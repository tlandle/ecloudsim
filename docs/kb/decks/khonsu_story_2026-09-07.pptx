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2200000"/>
            <a:ext cx="10392000" cy="1100000"/>
          </a:xfrm>
          <a:prstGeom prst="rect">
            <a:avLst/>
          </a:prstGeom>
          <a:noFill/>
        </p:spPr>
        <p:txBody>
          <a:bodyPr wrap="square">
            <a:spAutoFit/>
          </a:bodyPr>
          <a:lstStyle/>
          <a:p>
            <a:pPr algn="ctr">
              <a:spcAft>
                <a:spcPts val="600"/>
              </a:spcAft>
            </a:pPr>
            <a:r>
              <a:rPr sz="3400" b="1">
                <a:solidFill>
                  <a:srgbClr val="1B3A6B"/>
                </a:solidFill>
              </a:rPr>
              <a:t>Khonsu: Scaling Cooperative Prediction Across Edge Locales</a:t>
            </a:r>
          </a:p>
        </p:txBody>
      </p:sp>
      <p:sp>
        <p:nvSpPr>
          <p:cNvPr id="3" name="TextBox 2"/>
          <p:cNvSpPr txBox="1"/>
          <p:nvPr/>
        </p:nvSpPr>
        <p:spPr>
          <a:xfrm>
            <a:off x="900000" y="3400000"/>
            <a:ext cx="10392000" cy="700000"/>
          </a:xfrm>
          <a:prstGeom prst="rect">
            <a:avLst/>
          </a:prstGeom>
          <a:noFill/>
        </p:spPr>
        <p:txBody>
          <a:bodyPr wrap="square">
            <a:spAutoFit/>
          </a:bodyPr>
          <a:lstStyle/>
          <a:p>
            <a:pPr algn="ctr">
              <a:spcAft>
                <a:spcPts val="600"/>
              </a:spcAft>
            </a:pPr>
            <a:r>
              <a:rPr sz="1800" b="0">
                <a:solidFill>
                  <a:srgbClr val="6E6E6E"/>
                </a:solidFill>
              </a:rPr>
              <a:t>Research questions and evaluation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The argument in five steps</a:t>
            </a:r>
          </a:p>
        </p:txBody>
      </p:sp>
      <p:sp>
        <p:nvSpPr>
          <p:cNvPr id="3" name="Rounded Rectangle 2"/>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4" name="TextBox 3"/>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Conductor solved one locale: one cooperative-prediction service per road region, inside its deadline.</a:t>
            </a:r>
          </a:p>
          <a:p>
            <a:pPr>
              <a:spcAft>
                <a:spcPts val="800"/>
              </a:spcAft>
            </a:pPr>
            <a:r>
              <a:rPr sz="1600" b="0">
                <a:solidFill>
                  <a:srgbClr val="212121"/>
                </a:solidFill>
              </a:rPr>
              <a:t>• Metropolitan coverage needs many locales: fusion compute bounds a locale near 300 m.</a:t>
            </a:r>
          </a:p>
          <a:p>
            <a:pPr>
              <a:spcAft>
                <a:spcPts val="800"/>
              </a:spcAft>
            </a:pPr>
            <a:r>
              <a:rPr sz="1600" b="0">
                <a:solidFill>
                  <a:srgbClr val="212121"/>
                </a:solidFill>
              </a:rPr>
              <a:t>• Boundaries create a safety-relevant state discontinuity: the tracker and predictor condition on observations the destination never saw.</a:t>
            </a:r>
          </a:p>
          <a:p>
            <a:pPr>
              <a:spcAft>
                <a:spcPts val="800"/>
              </a:spcAft>
            </a:pPr>
            <a:r>
              <a:rPr sz="1600" b="0">
                <a:solidFill>
                  <a:srgbClr val="212121"/>
                </a:solidFill>
              </a:rPr>
              <a:t>• Khonsu preserves that state through the handoff: prepare early, shadow until commit, final update, stable-ID merge, one owner per track.</a:t>
            </a:r>
          </a:p>
          <a:p>
            <a:pPr>
              <a:spcAft>
                <a:spcPts val="800"/>
              </a:spcAft>
            </a:pPr>
            <a:r>
              <a:rPr sz="1600" b="0">
                <a:solidFill>
                  <a:srgbClr val="212121"/>
                </a:solidFill>
              </a:rPr>
              <a:t>• The corridor tests whether this works as a multi-locale service, not as one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Conductor solved one locale</a:t>
            </a:r>
          </a:p>
        </p:txBody>
      </p:sp>
      <p:sp>
        <p:nvSpPr>
          <p:cNvPr id="3" name="Rounded Rectangle 2"/>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4" name="TextBox 3"/>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One shared cooperative-prediction service per road region, covering fusion, tracking, and trajectory prediction.</a:t>
            </a:r>
          </a:p>
          <a:p>
            <a:pPr>
              <a:spcAft>
                <a:spcPts val="800"/>
              </a:spcAft>
            </a:pPr>
            <a:r>
              <a:rPr sz="1600" b="0">
                <a:solidFill>
                  <a:srgbClr val="212121"/>
                </a:solidFill>
              </a:rPr>
              <a:t>• Admission control and prediction scheduling keep it inside the 300 ms deadline up to 31 CAVs.</a:t>
            </a:r>
          </a:p>
          <a:p>
            <a:pPr>
              <a:spcAft>
                <a:spcPts val="800"/>
              </a:spcAft>
            </a:pPr>
            <a:r>
              <a:rPr sz="1600" b="0">
                <a:solidFill>
                  <a:srgbClr val="212121"/>
                </a:solidFill>
              </a:rPr>
              <a:t>• Accepted at SEC 2026.</a:t>
            </a:r>
          </a:p>
          <a:p>
            <a:pPr>
              <a:spcAft>
                <a:spcPts val="800"/>
              </a:spcAft>
            </a:pPr>
            <a:r>
              <a:rPr sz="1600" b="0">
                <a:solidFill>
                  <a:srgbClr val="212121"/>
                </a:solidFill>
              </a:rPr>
              <a:t>• We know how to operate one locale.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The next problem is metropolitan scale</a:t>
            </a:r>
          </a:p>
        </p:txBody>
      </p:sp>
      <p:sp>
        <p:nvSpPr>
          <p:cNvPr id="3" name="TextBox 2"/>
          <p:cNvSpPr txBox="1"/>
          <p:nvPr/>
        </p:nvSpPr>
        <p:spPr>
          <a:xfrm>
            <a:off x="640080" y="1100000"/>
            <a:ext cx="10972800" cy="1200000"/>
          </a:xfrm>
          <a:prstGeom prst="rect">
            <a:avLst/>
          </a:prstGeom>
          <a:noFill/>
        </p:spPr>
        <p:txBody>
          <a:bodyPr wrap="square">
            <a:spAutoFit/>
          </a:bodyPr>
          <a:lstStyle/>
          <a:p>
            <a:pPr>
              <a:spcAft>
                <a:spcPts val="800"/>
              </a:spcAft>
            </a:pPr>
            <a:r>
              <a:rPr sz="1600" b="0">
                <a:solidFill>
                  <a:srgbClr val="212121"/>
                </a:solidFill>
              </a:rPr>
              <a:t>• One locale has finite spatial extent.</a:t>
            </a:r>
          </a:p>
          <a:p>
            <a:pPr>
              <a:spcAft>
                <a:spcPts val="800"/>
              </a:spcAft>
            </a:pPr>
            <a:r>
              <a:rPr sz="1600" b="0">
                <a:solidFill>
                  <a:srgbClr val="212121"/>
                </a:solidFill>
              </a:rPr>
              <a:t>• City coverage therefore needs many locales.</a:t>
            </a:r>
          </a:p>
          <a:p>
            <a:pPr>
              <a:spcAft>
                <a:spcPts val="800"/>
              </a:spcAft>
            </a:pPr>
            <a:r>
              <a:rPr sz="1600" b="0">
                <a:solidFill>
                  <a:srgbClr val="212121"/>
                </a:solidFill>
              </a:rPr>
              <a:t>• Vehicles and tracked actors cross between them continually.</a:t>
            </a:r>
          </a:p>
        </p:txBody>
      </p:sp>
      <p:sp>
        <p:nvSpPr>
          <p:cNvPr id="4" name="TextBox 3"/>
          <p:cNvSpPr txBox="1"/>
          <p:nvPr/>
        </p:nvSpPr>
        <p:spPr>
          <a:xfrm>
            <a:off x="640080" y="2350000"/>
            <a:ext cx="4000000" cy="300000"/>
          </a:xfrm>
          <a:prstGeom prst="rect">
            <a:avLst/>
          </a:prstGeom>
          <a:noFill/>
        </p:spPr>
        <p:txBody>
          <a:bodyPr wrap="square">
            <a:spAutoFit/>
          </a:bodyPr>
          <a:lstStyle/>
          <a:p>
            <a:pPr>
              <a:spcAft>
                <a:spcPts val="600"/>
              </a:spcAft>
            </a:pPr>
            <a:r>
              <a:rPr sz="1200" b="1">
                <a:solidFill>
                  <a:srgbClr val="B3A369"/>
                </a:solidFill>
              </a:rPr>
              <a:t>Main question</a:t>
            </a:r>
          </a:p>
        </p:txBody>
      </p:sp>
      <p:sp>
        <p:nvSpPr>
          <p:cNvPr id="5" name="Rounded Rectangle 4"/>
          <p:cNvSpPr/>
          <p:nvPr/>
        </p:nvSpPr>
        <p:spPr>
          <a:xfrm>
            <a:off x="640080" y="2650000"/>
            <a:ext cx="10972800" cy="850000"/>
          </a:xfrm>
          <a:prstGeom prst="roundRect">
            <a:avLst/>
          </a:prstGeom>
          <a:solidFill>
            <a:srgbClr val="E1E8F5"/>
          </a:solidFill>
          <a:ln w="15875">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B3A6B"/>
                </a:solidFill>
              </a:rPr>
              <a:t>How do we extend edge-hosted cooperative prediction from one locale to a metropolitan deployment while preserving planner safety?</a:t>
            </a:r>
          </a:p>
        </p:txBody>
      </p:sp>
      <p:sp>
        <p:nvSpPr>
          <p:cNvPr id="6" name="TextBox 5"/>
          <p:cNvSpPr txBox="1"/>
          <p:nvPr/>
        </p:nvSpPr>
        <p:spPr>
          <a:xfrm>
            <a:off x="640080" y="3650000"/>
            <a:ext cx="10972800" cy="2500000"/>
          </a:xfrm>
          <a:prstGeom prst="rect">
            <a:avLst/>
          </a:prstGeom>
          <a:noFill/>
        </p:spPr>
        <p:txBody>
          <a:bodyPr wrap="square">
            <a:spAutoFit/>
          </a:bodyPr>
          <a:lstStyle/>
          <a:p>
            <a:pPr>
              <a:spcAft>
                <a:spcPts val="800"/>
              </a:spcAft>
            </a:pPr>
            <a:r>
              <a:rPr sz="1400" b="0">
                <a:solidFill>
                  <a:srgbClr val="212121"/>
                </a:solidFill>
              </a:rPr>
              <a:t>RQ1 (scale-out). How should cooperative prediction be partitioned across locales, and what limits the region one locale can serve?</a:t>
            </a:r>
          </a:p>
          <a:p>
            <a:pPr>
              <a:spcAft>
                <a:spcPts val="800"/>
              </a:spcAft>
            </a:pPr>
            <a:r>
              <a:rPr sz="1400" b="0">
                <a:solidFill>
                  <a:srgbClr val="212121"/>
                </a:solidFill>
              </a:rPr>
              <a:t>RQ2 (state continuity). When actors move between locales, what state must follow them to preserve prediction quality?</a:t>
            </a:r>
          </a:p>
          <a:p>
            <a:pPr>
              <a:spcAft>
                <a:spcPts val="800"/>
              </a:spcAft>
            </a:pPr>
            <a:r>
              <a:rPr sz="1400" b="0">
                <a:solidFill>
                  <a:srgbClr val="212121"/>
                </a:solidFill>
              </a:rPr>
              <a:t>RQ3 (safe handoff). What handoff timing and mechanism keep predictions inside the maneuver-specific safe-age envelope?</a:t>
            </a:r>
          </a:p>
          <a:p>
            <a:pPr>
              <a:spcAft>
                <a:spcPts val="800"/>
              </a:spcAft>
            </a:pPr>
            <a:r>
              <a:rPr sz="1400" b="0">
                <a:solidFill>
                  <a:srgbClr val="212121"/>
                </a:solidFill>
              </a:rPr>
              <a:t>RQ4 (multi-locale operation). Can the design sustain repeated and concurrent handoffs across a realistic corridor?</a:t>
            </a:r>
          </a:p>
        </p:txBody>
      </p:sp>
      <p:sp>
        <p:nvSpPr>
          <p:cNvPr id="7" name="TextBox 6"/>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Khonsu is the answer that falls out of RQ2 and RQ3. RQ4 tests it as a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What we think the paper contributes</a:t>
            </a:r>
          </a:p>
        </p:txBody>
      </p:sp>
      <p:sp>
        <p:nvSpPr>
          <p:cNvPr id="3" name="Rounded Rectangle 2"/>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4" name="TextBox 3"/>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1. Multi-locale cooperative prediction. Why metropolitan cooperative prediction must be geographically partitioned, and why traffic-generated conflicts prevent boundaries from being made harmless.</a:t>
            </a:r>
          </a:p>
          <a:p>
            <a:pPr>
              <a:spcAft>
                <a:spcPts val="800"/>
              </a:spcAft>
            </a:pPr>
            <a:r>
              <a:rPr sz="1600" b="0">
                <a:solidFill>
                  <a:srgbClr val="212121"/>
                </a:solidFill>
              </a:rPr>
              <a:t>• 2. Temporal-state continuity. Realistic 3D tracking depends on observation history that a locale handoff loses; a current-state transfer is insufficient in the regimes that motivate learned tracking.</a:t>
            </a:r>
          </a:p>
          <a:p>
            <a:pPr>
              <a:spcAft>
                <a:spcPts val="800"/>
              </a:spcAft>
            </a:pPr>
            <a:r>
              <a:rPr sz="1600" b="0">
                <a:solidFill>
                  <a:srgbClr val="212121"/>
                </a:solidFill>
              </a:rPr>
              <a:t>• 3. Khonsu. A selective, forecast-driven handoff that prepares per-actor temporal state before it is needed, sends a final update at ownership transfer, and keeps stale owners from reaching the planner.</a:t>
            </a:r>
          </a:p>
          <a:p>
            <a:pPr>
              <a:spcAft>
                <a:spcPts val="800"/>
              </a:spcAft>
            </a:pPr>
            <a:r>
              <a:rPr sz="1600" b="0">
                <a:solidFill>
                  <a:srgbClr val="212121"/>
                </a:solidFill>
              </a:rPr>
              <a:t>• 4. Evaluation across alternatives and repeated handoffs. When reactive migration, radio-timed migration, overlap, and continuous replication suffice, and their safety and system cost across a multi-locale corridor.</a:t>
            </a:r>
          </a:p>
        </p:txBody>
      </p:sp>
      <p:sp>
        <p:nvSpPr>
          <p:cNvPr id="5" name="TextBox 4"/>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Scaling cooperative prediction from one locale to metropolitan coverage creates a continuity problem that partitioning, overlapping, or migrating the service does not solve cleanly. Khonsu preserves the state the planner needs, when it needs it, without continuously duplicating the service.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RQ1: one locale has a finite region</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RQ1</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BEV fusion cost grows with canvas area.</a:t>
            </a:r>
          </a:p>
          <a:p>
            <a:pPr>
              <a:spcAft>
                <a:spcPts val="800"/>
              </a:spcAft>
            </a:pPr>
            <a:r>
              <a:rPr sz="1600" b="0">
                <a:solidFill>
                  <a:srgbClr val="212121"/>
                </a:solidFill>
              </a:rPr>
              <a:t>• At 8 contributors, fusion exceeds its 130 ms allocation between 282 and 400 m.</a:t>
            </a:r>
          </a:p>
          <a:p>
            <a:pPr>
              <a:spcAft>
                <a:spcPts val="800"/>
              </a:spcAft>
            </a:pPr>
            <a:r>
              <a:rPr sz="1600" b="0">
                <a:solidFill>
                  <a:srgbClr val="212121"/>
                </a:solidFill>
              </a:rPr>
              <a:t>• Memory is not the limit, at 6.8 GB of 16 GB for a 563 m canvas.</a:t>
            </a:r>
          </a:p>
          <a:p>
            <a:pPr>
              <a:spcAft>
                <a:spcPts val="800"/>
              </a:spcAft>
            </a:pPr>
            <a:r>
              <a:rPr sz="1600" b="0">
                <a:solidFill>
                  <a:srgbClr val="212121"/>
                </a:solidFill>
              </a:rPr>
              <a:t>• For our hardware and fusion stack, the practical locale size is about 300 m.</a:t>
            </a:r>
          </a:p>
        </p:txBody>
      </p:sp>
      <p:pic>
        <p:nvPicPr>
          <p:cNvPr id="6" name="Picture 5" descr="image.png"/>
          <p:cNvPicPr>
            <a:picLocks noChangeAspect="1"/>
          </p:cNvPicPr>
          <p:nvPr/>
        </p:nvPicPr>
        <p:blipFill>
          <a:blip r:embed="rId2"/>
          <a:stretch>
            <a:fillRect/>
          </a:stretch>
        </p:blipFill>
        <p:spPr>
          <a:xfrm>
            <a:off x="1920240" y="2900000"/>
            <a:ext cx="7312500" cy="3250000"/>
          </a:xfrm>
          <a:prstGeom prst="rect">
            <a:avLst/>
          </a:prstGeom>
        </p:spPr>
      </p:pic>
      <p:sp>
        <p:nvSpPr>
          <p:cNvPr id="7" name="TextBox 6"/>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Evidence: canvas latency sweep on the edge GPU  ·  Caveat: the number is architecture-specific, the existence of a cap is 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RQ1: the multi-locale architecture</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RQ1</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One cooperative-prediction instance per locale; an edge server may host several.</a:t>
            </a:r>
          </a:p>
          <a:p>
            <a:pPr>
              <a:spcAft>
                <a:spcPts val="800"/>
              </a:spcAft>
            </a:pPr>
            <a:r>
              <a:rPr sz="1600" b="0">
                <a:solidFill>
                  <a:srgbClr val="212121"/>
                </a:solidFill>
              </a:rPr>
              <a:t>• Locales are anchored on fixed conflict points, intersections and permanent merges; boundaries fall on the roads that connect them.</a:t>
            </a:r>
          </a:p>
          <a:p>
            <a:pPr>
              <a:spcAft>
                <a:spcPts val="800"/>
              </a:spcAft>
            </a:pPr>
            <a:r>
              <a:rPr sz="1600" b="0">
                <a:solidFill>
                  <a:srgbClr val="212121"/>
                </a:solidFill>
              </a:rPr>
              <a:t>• Each track has exactly one owning locale at a time; adjacent locales share a record schema and a calibrated frame transform.</a:t>
            </a:r>
          </a:p>
          <a:p>
            <a:pPr>
              <a:spcAft>
                <a:spcPts val="800"/>
              </a:spcAft>
            </a:pPr>
            <a:r>
              <a:rPr sz="1600" b="0">
                <a:solidFill>
                  <a:srgbClr val="212121"/>
                </a:solidFill>
              </a:rPr>
              <a:t>• A vehicle crosses a boundary every 20 to 30 seconds of urban driving, so handoffs are the steady-state workload.</a:t>
            </a:r>
          </a:p>
        </p:txBody>
      </p:sp>
      <p:pic>
        <p:nvPicPr>
          <p:cNvPr id="6" name="Picture 5" descr="image.png"/>
          <p:cNvPicPr>
            <a:picLocks noChangeAspect="1"/>
          </p:cNvPicPr>
          <p:nvPr/>
        </p:nvPicPr>
        <p:blipFill>
          <a:blip r:embed="rId2"/>
          <a:stretch>
            <a:fillRect/>
          </a:stretch>
        </p:blipFill>
        <p:spPr>
          <a:xfrm>
            <a:off x="762000" y="2900000"/>
            <a:ext cx="3629166" cy="3250000"/>
          </a:xfrm>
          <a:prstGeom prst="rect">
            <a:avLst/>
          </a:prstGeom>
        </p:spPr>
      </p:pic>
      <p:pic>
        <p:nvPicPr>
          <p:cNvPr id="7" name="Picture 6" descr="image.png"/>
          <p:cNvPicPr>
            <a:picLocks noChangeAspect="1"/>
          </p:cNvPicPr>
          <p:nvPr/>
        </p:nvPicPr>
        <p:blipFill>
          <a:blip r:embed="rId3"/>
          <a:stretch>
            <a:fillRect/>
          </a:stretch>
        </p:blipFill>
        <p:spPr>
          <a:xfrm>
            <a:off x="6309360" y="2900000"/>
            <a:ext cx="4733696" cy="325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Partitioning creates a state discontinuity</a:t>
            </a:r>
          </a:p>
        </p:txBody>
      </p:sp>
      <p:sp>
        <p:nvSpPr>
          <p:cNvPr id="3" name="TextBox 2"/>
          <p:cNvSpPr txBox="1"/>
          <p:nvPr/>
        </p:nvSpPr>
        <p:spPr>
          <a:xfrm>
            <a:off x="640080" y="1100000"/>
            <a:ext cx="10972800" cy="1300000"/>
          </a:xfrm>
          <a:prstGeom prst="rect">
            <a:avLst/>
          </a:prstGeom>
          <a:noFill/>
        </p:spPr>
        <p:txBody>
          <a:bodyPr wrap="square">
            <a:spAutoFit/>
          </a:bodyPr>
          <a:lstStyle/>
          <a:p>
            <a:pPr>
              <a:spcAft>
                <a:spcPts val="800"/>
              </a:spcAft>
            </a:pPr>
            <a:r>
              <a:rPr sz="1600" b="0">
                <a:solidFill>
                  <a:srgbClr val="212121"/>
                </a:solidFill>
              </a:rPr>
              <a:t>• Traffic conflicts do not respect the partition: queue tails, stopped vehicles, overtakes, and lane changes form on the roads where boundaries fall.</a:t>
            </a:r>
          </a:p>
          <a:p>
            <a:pPr>
              <a:spcAft>
                <a:spcPts val="800"/>
              </a:spcAft>
            </a:pPr>
            <a:r>
              <a:rPr sz="1600" b="0">
                <a:solidFill>
                  <a:srgbClr val="212121"/>
                </a:solidFill>
              </a:rPr>
              <a:t>• A boundary separates the observations that established an actor's motion from the planner decision that needs its forecast. The destination must recover the track before that decision, with observations it never made.</a:t>
            </a:r>
          </a:p>
        </p:txBody>
      </p:sp>
      <p:sp>
        <p:nvSpPr>
          <p:cNvPr id="4" name="Rectangle 3"/>
          <p:cNvSpPr/>
          <p:nvPr/>
        </p:nvSpPr>
        <p:spPr>
          <a:xfrm>
            <a:off x="700000" y="2500000"/>
            <a:ext cx="3400000" cy="2300000"/>
          </a:xfrm>
          <a:prstGeom prst="rect">
            <a:avLst/>
          </a:prstGeom>
          <a:solidFill>
            <a:srgbClr val="E1E8F5"/>
          </a:solidFill>
          <a:ln w="15875">
            <a:solidFill>
              <a:srgbClr val="1B3A6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0000" y="2540000"/>
            <a:ext cx="1800000" cy="400000"/>
          </a:xfrm>
          <a:prstGeom prst="rect">
            <a:avLst/>
          </a:prstGeom>
          <a:noFill/>
        </p:spPr>
        <p:txBody>
          <a:bodyPr wrap="square">
            <a:spAutoFit/>
          </a:bodyPr>
          <a:lstStyle/>
          <a:p>
            <a:pPr>
              <a:spcAft>
                <a:spcPts val="600"/>
              </a:spcAft>
            </a:pPr>
            <a:r>
              <a:rPr sz="1300" b="1">
                <a:solidFill>
                  <a:srgbClr val="1B3A6B"/>
                </a:solidFill>
              </a:rPr>
              <a:t>Locale A</a:t>
            </a:r>
          </a:p>
        </p:txBody>
      </p:sp>
      <p:sp>
        <p:nvSpPr>
          <p:cNvPr id="6" name="Rectangle 5"/>
          <p:cNvSpPr/>
          <p:nvPr/>
        </p:nvSpPr>
        <p:spPr>
          <a:xfrm>
            <a:off x="2200000" y="2750000"/>
            <a:ext cx="400000" cy="40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7" name="Rectangle 6"/>
          <p:cNvSpPr/>
          <p:nvPr/>
        </p:nvSpPr>
        <p:spPr>
          <a:xfrm>
            <a:off x="4350000" y="2500000"/>
            <a:ext cx="3400000" cy="2300000"/>
          </a:xfrm>
          <a:prstGeom prst="rect">
            <a:avLst/>
          </a:prstGeom>
          <a:solidFill>
            <a:srgbClr val="FCECD6"/>
          </a:solidFill>
          <a:ln w="15875">
            <a:solidFill>
              <a:srgbClr val="CC781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0000" y="2540000"/>
            <a:ext cx="1800000" cy="400000"/>
          </a:xfrm>
          <a:prstGeom prst="rect">
            <a:avLst/>
          </a:prstGeom>
          <a:noFill/>
        </p:spPr>
        <p:txBody>
          <a:bodyPr wrap="square">
            <a:spAutoFit/>
          </a:bodyPr>
          <a:lstStyle/>
          <a:p>
            <a:pPr>
              <a:spcAft>
                <a:spcPts val="600"/>
              </a:spcAft>
            </a:pPr>
            <a:r>
              <a:rPr sz="1300" b="1">
                <a:solidFill>
                  <a:srgbClr val="CC7814"/>
                </a:solidFill>
              </a:rPr>
              <a:t>Locale B</a:t>
            </a:r>
          </a:p>
        </p:txBody>
      </p:sp>
      <p:sp>
        <p:nvSpPr>
          <p:cNvPr id="9" name="Rectangle 8"/>
          <p:cNvSpPr/>
          <p:nvPr/>
        </p:nvSpPr>
        <p:spPr>
          <a:xfrm>
            <a:off x="5850000" y="2750000"/>
            <a:ext cx="400000" cy="40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10" name="Rectangle 9"/>
          <p:cNvSpPr/>
          <p:nvPr/>
        </p:nvSpPr>
        <p:spPr>
          <a:xfrm>
            <a:off x="8000000" y="2500000"/>
            <a:ext cx="3400000" cy="2300000"/>
          </a:xfrm>
          <a:prstGeom prst="rect">
            <a:avLst/>
          </a:prstGeom>
          <a:solidFill>
            <a:srgbClr val="E1E8F5"/>
          </a:solidFill>
          <a:ln w="15875">
            <a:solidFill>
              <a:srgbClr val="1B3A6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80000" y="2540000"/>
            <a:ext cx="1800000" cy="400000"/>
          </a:xfrm>
          <a:prstGeom prst="rect">
            <a:avLst/>
          </a:prstGeom>
          <a:noFill/>
        </p:spPr>
        <p:txBody>
          <a:bodyPr wrap="square">
            <a:spAutoFit/>
          </a:bodyPr>
          <a:lstStyle/>
          <a:p>
            <a:pPr>
              <a:spcAft>
                <a:spcPts val="600"/>
              </a:spcAft>
            </a:pPr>
            <a:r>
              <a:rPr sz="1300" b="1">
                <a:solidFill>
                  <a:srgbClr val="1B3A6B"/>
                </a:solidFill>
              </a:rPr>
              <a:t>Locale C</a:t>
            </a:r>
          </a:p>
        </p:txBody>
      </p:sp>
      <p:sp>
        <p:nvSpPr>
          <p:cNvPr id="12" name="Rectangle 11"/>
          <p:cNvSpPr/>
          <p:nvPr/>
        </p:nvSpPr>
        <p:spPr>
          <a:xfrm>
            <a:off x="9500000" y="2750000"/>
            <a:ext cx="400000" cy="40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13" name="Rectangle 12"/>
          <p:cNvSpPr/>
          <p:nvPr/>
        </p:nvSpPr>
        <p:spPr>
          <a:xfrm>
            <a:off x="900000" y="3750000"/>
            <a:ext cx="10400000" cy="380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5000" y="2400000"/>
            <a:ext cx="20000" cy="250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75000" y="2400000"/>
            <a:ext cx="20000" cy="250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00000" y="3890000"/>
            <a:ext cx="110000" cy="110000"/>
          </a:xfrm>
          <a:prstGeom prst="ellipse">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500000" y="3890000"/>
            <a:ext cx="110000" cy="110000"/>
          </a:xfrm>
          <a:prstGeom prst="ellipse">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00000" y="3890000"/>
            <a:ext cx="110000" cy="110000"/>
          </a:xfrm>
          <a:prstGeom prst="ellipse">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100000" y="3890000"/>
            <a:ext cx="110000" cy="110000"/>
          </a:xfrm>
          <a:prstGeom prst="ellipse">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400000" y="3890000"/>
            <a:ext cx="110000" cy="110000"/>
          </a:xfrm>
          <a:prstGeom prst="ellipse">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50000" y="3830000"/>
            <a:ext cx="320000" cy="23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a</a:t>
            </a:r>
          </a:p>
        </p:txBody>
      </p:sp>
      <p:sp>
        <p:nvSpPr>
          <p:cNvPr id="22" name="TextBox 21"/>
          <p:cNvSpPr txBox="1"/>
          <p:nvPr/>
        </p:nvSpPr>
        <p:spPr>
          <a:xfrm>
            <a:off x="1000000" y="4200000"/>
            <a:ext cx="3000000" cy="500000"/>
          </a:xfrm>
          <a:prstGeom prst="rect">
            <a:avLst/>
          </a:prstGeom>
          <a:noFill/>
        </p:spPr>
        <p:txBody>
          <a:bodyPr wrap="square">
            <a:spAutoFit/>
          </a:bodyPr>
          <a:lstStyle/>
          <a:p>
            <a:pPr>
              <a:spcAft>
                <a:spcPts val="600"/>
              </a:spcAft>
            </a:pPr>
            <a:r>
              <a:rPr sz="1100" b="0">
                <a:solidFill>
                  <a:srgbClr val="1B3A6B"/>
                </a:solidFill>
              </a:rPr>
              <a:t>observation history accumulates in A</a:t>
            </a:r>
          </a:p>
        </p:txBody>
      </p:sp>
      <p:sp>
        <p:nvSpPr>
          <p:cNvPr id="23" name="Rectangle 22"/>
          <p:cNvSpPr/>
          <p:nvPr/>
        </p:nvSpPr>
        <p:spPr>
          <a:xfrm>
            <a:off x="5400000" y="3830000"/>
            <a:ext cx="320000" cy="230000"/>
          </a:xfrm>
          <a:prstGeom prst="rect">
            <a:avLst/>
          </a:prstGeom>
          <a:solidFill>
            <a:srgbClr val="CC781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v</a:t>
            </a:r>
          </a:p>
        </p:txBody>
      </p:sp>
      <p:sp>
        <p:nvSpPr>
          <p:cNvPr id="24" name="Rectangle 23"/>
          <p:cNvSpPr/>
          <p:nvPr/>
        </p:nvSpPr>
        <p:spPr>
          <a:xfrm>
            <a:off x="5350000" y="3780000"/>
            <a:ext cx="420000" cy="330000"/>
          </a:xfrm>
          <a:prstGeom prst="rect">
            <a:avLst/>
          </a:prstGeom>
          <a:noFill/>
          <a:ln w="1587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50000" y="4200000"/>
            <a:ext cx="3300000" cy="500000"/>
          </a:xfrm>
          <a:prstGeom prst="rect">
            <a:avLst/>
          </a:prstGeom>
          <a:noFill/>
        </p:spPr>
        <p:txBody>
          <a:bodyPr wrap="square">
            <a:spAutoFit/>
          </a:bodyPr>
          <a:lstStyle/>
          <a:p>
            <a:pPr>
              <a:spcAft>
                <a:spcPts val="600"/>
              </a:spcAft>
            </a:pPr>
            <a:r>
              <a:rPr sz="1100" b="0">
                <a:solidFill>
                  <a:srgbClr val="C0392B"/>
                </a:solidFill>
              </a:rPr>
              <a:t>decision in B, on the segment between anchors</a:t>
            </a:r>
          </a:p>
        </p:txBody>
      </p:sp>
      <p:sp>
        <p:nvSpPr>
          <p:cNvPr id="26" name="TextBox 25"/>
          <p:cNvSpPr txBox="1"/>
          <p:nvPr/>
        </p:nvSpPr>
        <p:spPr>
          <a:xfrm>
            <a:off x="7900000" y="4200000"/>
            <a:ext cx="3000000" cy="500000"/>
          </a:xfrm>
          <a:prstGeom prst="rect">
            <a:avLst/>
          </a:prstGeom>
          <a:noFill/>
        </p:spPr>
        <p:txBody>
          <a:bodyPr wrap="square">
            <a:spAutoFit/>
          </a:bodyPr>
          <a:lstStyle/>
          <a:p>
            <a:pPr>
              <a:spcAft>
                <a:spcPts val="600"/>
              </a:spcAft>
            </a:pPr>
            <a:r>
              <a:rPr sz="1100" b="0">
                <a:solidFill>
                  <a:srgbClr val="6E6E6E"/>
                </a:solidFill>
              </a:rPr>
              <a:t>same again at the next boundary</a:t>
            </a:r>
          </a:p>
        </p:txBody>
      </p:sp>
      <p:sp>
        <p:nvSpPr>
          <p:cNvPr id="27" name="TextBox 26"/>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The boundary separates the observations that establish an actor's motion from the decision that consumes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RQ2: what state must survive a crossing?</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RQ2</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Real motion includes acceleration, braking, and turning. Constant-velocity Kalman tracking degrades there.</a:t>
            </a:r>
          </a:p>
          <a:p>
            <a:pPr>
              <a:spcAft>
                <a:spcPts val="800"/>
              </a:spcAft>
            </a:pPr>
            <a:r>
              <a:rPr sz="1600" b="0">
                <a:solidFill>
                  <a:srgbClr val="212121"/>
                </a:solidFill>
              </a:rPr>
              <a:t>• Our 3D adaptation of MambaTrack gains its accuracy from a history of K observations.</a:t>
            </a:r>
          </a:p>
          <a:p>
            <a:pPr>
              <a:spcAft>
                <a:spcPts val="800"/>
              </a:spcAft>
            </a:pPr>
            <a:r>
              <a:rPr sz="1600" b="0">
                <a:solidFill>
                  <a:srgbClr val="212121"/>
                </a:solidFill>
              </a:rPr>
              <a:t>• Once the service is partitioned, that history becomes cross-locale service state.</a:t>
            </a:r>
          </a:p>
          <a:p>
            <a:pPr>
              <a:spcAft>
                <a:spcPts val="800"/>
              </a:spcAft>
            </a:pPr>
            <a:r>
              <a:rPr sz="1600" b="0">
                <a:solidFill>
                  <a:srgbClr val="212121"/>
                </a:solidFill>
              </a:rPr>
              <a:t>• One frame is indistinguishable from cold start. The history reduces post-handoff error by a factor of 2.8 to 9.3.</a:t>
            </a:r>
          </a:p>
        </p:txBody>
      </p:sp>
      <p:pic>
        <p:nvPicPr>
          <p:cNvPr id="6" name="Picture 5" descr="image.png"/>
          <p:cNvPicPr>
            <a:picLocks noChangeAspect="1"/>
          </p:cNvPicPr>
          <p:nvPr/>
        </p:nvPicPr>
        <p:blipFill>
          <a:blip r:embed="rId2"/>
          <a:stretch>
            <a:fillRect/>
          </a:stretch>
        </p:blipFill>
        <p:spPr>
          <a:xfrm>
            <a:off x="2834640" y="2900000"/>
            <a:ext cx="5190647" cy="3250000"/>
          </a:xfrm>
          <a:prstGeom prst="rect">
            <a:avLst/>
          </a:prstGeom>
        </p:spPr>
      </p:pic>
      <p:sp>
        <p:nvSpPr>
          <p:cNvPr id="7" name="TextBox 6"/>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Evidence: forced-handoff microbenchmark, four maneuvers  ·  Claim scope: first SSM 3D tracker inside a distributed cooperative-prediction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RQ2: a snapshot is insufficient for the overtake scenario</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RQ2</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Two-locale flow scenario, ego occluded by a stopped truck, oncoming at 12 m/s, 10 runs per arm, freeze-1g.</a:t>
            </a:r>
          </a:p>
          <a:p>
            <a:pPr>
              <a:spcAft>
                <a:spcPts val="800"/>
              </a:spcAft>
            </a:pPr>
            <a:r>
              <a:rPr sz="1600" b="0">
                <a:solidFill>
                  <a:srgbClr val="212121"/>
                </a:solidFill>
              </a:rPr>
              <a:t>• Arms that carry the observation history: Khonsu 9 of 10 complete without a collision, reactive history 8 of 10.</a:t>
            </a:r>
          </a:p>
          <a:p>
            <a:pPr>
              <a:spcAft>
                <a:spcPts val="800"/>
              </a:spcAft>
            </a:pPr>
            <a:r>
              <a:rPr sz="1600" b="0">
                <a:solidFill>
                  <a:srgbClr val="212121"/>
                </a:solidFill>
              </a:rPr>
              <a:t>• Arms that carry a snapshot fail regardless of timing: Kalman snapshot 1 of 10, EdgeWarp with pre-copy and final sync 1 of 10, handover snapshot 0 of 10. Cold start 2 of 10.</a:t>
            </a:r>
          </a:p>
          <a:p>
            <a:pPr>
              <a:spcAft>
                <a:spcPts val="800"/>
              </a:spcAft>
            </a:pPr>
            <a:r>
              <a:rPr sz="1600" b="0">
                <a:solidFill>
                  <a:srgbClr val="212121"/>
                </a:solidFill>
              </a:rPr>
              <a:t>• Every collision is the ego striking the truck it is passing: the overtake is gated on the oncoming forecast, and a snapshot carries no motion.</a:t>
            </a:r>
          </a:p>
          <a:p>
            <a:pPr>
              <a:spcAft>
                <a:spcPts val="800"/>
              </a:spcAft>
            </a:pPr>
            <a:r>
              <a:rPr sz="1600" b="0">
                <a:solidFill>
                  <a:srgbClr val="212121"/>
                </a:solidFill>
              </a:rPr>
              <a:t>• The maneuvering (accelerating) case is being rerun after a planner gate fix found this weekend; the earlier 4-seed result is withdrawn.</a:t>
            </a:r>
          </a:p>
        </p:txBody>
      </p:sp>
      <p:pic>
        <p:nvPicPr>
          <p:cNvPr id="6" name="Picture 5" descr="real_density.png"/>
          <p:cNvPicPr>
            <a:picLocks noChangeAspect="1"/>
          </p:cNvPicPr>
          <p:nvPr/>
        </p:nvPicPr>
        <p:blipFill>
          <a:blip r:embed="rId2"/>
          <a:stretch>
            <a:fillRect/>
          </a:stretch>
        </p:blipFill>
        <p:spPr>
          <a:xfrm>
            <a:off x="2200000" y="3300000"/>
            <a:ext cx="4037500" cy="2850000"/>
          </a:xfrm>
          <a:prstGeom prst="rect">
            <a:avLst/>
          </a:prstGeom>
        </p:spPr>
      </p:pic>
      <p:sp>
        <p:nvSpPr>
          <p:cNvPr id="7" name="TextBox 6"/>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Metric: collided or not per run, completed without collision  ·  Tonight: the same six arms at 20 seeds on freeze-1i, plus FDE at 5 s per arm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How old can a prediction be and still support the maneuver?</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pic>
        <p:nvPicPr>
          <p:cNvPr id="5" name="Picture 4" descr="real_envelope.png"/>
          <p:cNvPicPr>
            <a:picLocks noChangeAspect="1"/>
          </p:cNvPicPr>
          <p:nvPr/>
        </p:nvPicPr>
        <p:blipFill>
          <a:blip r:embed="rId2"/>
          <a:stretch>
            <a:fillRect/>
          </a:stretch>
        </p:blipFill>
        <p:spPr>
          <a:xfrm>
            <a:off x="500000" y="1150000"/>
            <a:ext cx="7400000" cy="2748571"/>
          </a:xfrm>
          <a:prstGeom prst="rect">
            <a:avLst/>
          </a:prstGeom>
        </p:spPr>
      </p:pic>
      <p:sp>
        <p:nvSpPr>
          <p:cNvPr id="6" name="TextBox 5"/>
          <p:cNvSpPr txBox="1"/>
          <p:nvPr/>
        </p:nvSpPr>
        <p:spPr>
          <a:xfrm>
            <a:off x="1150000" y="5950000"/>
            <a:ext cx="7400000" cy="320000"/>
          </a:xfrm>
          <a:prstGeom prst="rect">
            <a:avLst/>
          </a:prstGeom>
          <a:noFill/>
        </p:spPr>
        <p:txBody>
          <a:bodyPr wrap="square">
            <a:spAutoFit/>
          </a:bodyPr>
          <a:lstStyle/>
          <a:p>
            <a:pPr>
              <a:spcAft>
                <a:spcPts val="600"/>
              </a:spcAft>
            </a:pPr>
            <a:r>
              <a:rPr sz="1000" b="1">
                <a:solidFill>
                  <a:srgbClr val="2E7D32"/>
                </a:solidFill>
              </a:rPr>
              <a:t>MEASURED, blind overtake, freeze-1f (7 loads x 5 runs)</a:t>
            </a:r>
          </a:p>
        </p:txBody>
      </p:sp>
      <p:sp>
        <p:nvSpPr>
          <p:cNvPr id="7" name="TextBox 6"/>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8" name="TextBox 7"/>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What freshness limit must a locale handoff preserve? The limit depends on maneuver urgency, not on one universal latency number.</a:t>
            </a:r>
          </a:p>
        </p:txBody>
      </p:sp>
      <p:sp>
        <p:nvSpPr>
          <p:cNvPr id="9" name="TextBox 8"/>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10" name="TextBox 9"/>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Current measurement: load-induced age sweep. Radio load through the ns-3 lookup table (4 to 31 contending vehicles), no migration in play, realized forecast age logged at every planner decision. Needed: controlled age-injection sweep per scenario.</a:t>
            </a:r>
          </a:p>
        </p:txBody>
      </p:sp>
      <p:sp>
        <p:nvSpPr>
          <p:cNvPr id="11" name="TextBox 10"/>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2" name="TextBox 11"/>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Blind overtake: the pipeline floor is 300 ms of age; every run completes up to 1.0 s; onset at 1.2 s, 2 of 5 runs collide at 31 contending vehicles. The acceleration scenario runs tonight on the fixed planner.</a:t>
            </a:r>
          </a:p>
        </p:txBody>
      </p:sp>
      <p:sp>
        <p:nvSpPr>
          <p:cNvPr id="13" name="TextBox 12"/>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Replaces the earlier 220 to 450 ms citation with numbers measured inside Khonsu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We compare seven ways to maintain continuity</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TextBox 3"/>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No continuity: cold start. The destination begins from its own first detection.</a:t>
            </a:r>
          </a:p>
          <a:p>
            <a:pPr>
              <a:spcAft>
                <a:spcPts val="800"/>
              </a:spcAft>
            </a:pPr>
            <a:r>
              <a:rPr sz="1600" b="0">
                <a:solidFill>
                  <a:srgbClr val="212121"/>
                </a:solidFill>
              </a:rPr>
              <a:t>• Reactive continuity: transfer at the boundary (reactive history), and EdgeWarp, which pre-copies a snapshot on the predicted radio attachment and syncs at handover.</a:t>
            </a:r>
          </a:p>
          <a:p>
            <a:pPr>
              <a:spcAft>
                <a:spcPts val="800"/>
              </a:spcAft>
            </a:pPr>
            <a:r>
              <a:rPr sz="1600" b="0">
                <a:solidFill>
                  <a:srgbClr val="212121"/>
                </a:solidFill>
              </a:rPr>
              <a:t>• Brute-force continuity: overlap, where both locale services run over the boundary region, and continuous replication, which mirrors every track to the neighbor.</a:t>
            </a:r>
          </a:p>
          <a:p>
            <a:pPr>
              <a:spcAft>
                <a:spcPts val="800"/>
              </a:spcAft>
            </a:pPr>
            <a:r>
              <a:rPr sz="1600" b="0">
                <a:solidFill>
                  <a:srgbClr val="212121"/>
                </a:solidFill>
              </a:rPr>
              <a:t>• Khonsu: forecast-driven prepare, shadow until commit, final update, stable-ID merge, ownership epoch.</a:t>
            </a:r>
          </a:p>
          <a:p>
            <a:pPr>
              <a:spcAft>
                <a:spcPts val="800"/>
              </a:spcAft>
            </a:pPr>
            <a:r>
              <a:rPr sz="1600" b="0">
                <a:solidFill>
                  <a:srgbClr val="212121"/>
                </a:solidFill>
              </a:rPr>
              <a:t>• Oracle: prepare at the true crossing time. The upper bound on any trigger.</a:t>
            </a:r>
          </a:p>
        </p:txBody>
      </p:sp>
      <p:sp>
        <p:nvSpPr>
          <p:cNvPr id="5" name="TextBox 4"/>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Seven designs for cross-locale continuity, measured as arms of one experiment with identical scenarios, seeds, and metrics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Why isn't an existing mechanism enough?</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graphicFrame>
        <p:nvGraphicFramePr>
          <p:cNvPr id="4" name="Table 3"/>
          <p:cNvGraphicFramePr>
            <a:graphicFrameLocks noGrp="1"/>
          </p:cNvGraphicFramePr>
          <p:nvPr/>
        </p:nvGraphicFramePr>
        <p:xfrm>
          <a:off x="548640" y="1150000"/>
          <a:ext cx="11094720" cy="3900000"/>
        </p:xfrm>
        <a:graphic>
          <a:graphicData uri="http://schemas.openxmlformats.org/drawingml/2006/table">
            <a:tbl>
              <a:tblPr firstRow="1" bandRow="1">
                <a:tableStyleId>{5C22544A-7EE6-4342-B048-85BDC9FD1C3A}</a:tableStyleId>
              </a:tblPr>
              <a:tblGrid>
                <a:gridCol w="2800000"/>
                <a:gridCol w="2300000"/>
                <a:gridCol w="2400000"/>
                <a:gridCol w="1700000"/>
                <a:gridCol w="1894720"/>
              </a:tblGrid>
              <a:tr h="433333">
                <a:tc>
                  <a:txBody>
                    <a:bodyPr/>
                    <a:lstStyle/>
                    <a:p>
                      <a:r>
                        <a:rPr sz="1200" b="1"/>
                        <a:t>Alternative</a:t>
                      </a:r>
                    </a:p>
                  </a:txBody>
                  <a:tcPr/>
                </a:tc>
                <a:tc>
                  <a:txBody>
                    <a:bodyPr/>
                    <a:lstStyle/>
                    <a:p>
                      <a:r>
                        <a:rPr sz="1200" b="1"/>
                        <a:t>State adequate?</a:t>
                      </a:r>
                    </a:p>
                  </a:txBody>
                  <a:tcPr/>
                </a:tc>
                <a:tc>
                  <a:txBody>
                    <a:bodyPr/>
                    <a:lstStyle/>
                    <a:p>
                      <a:r>
                        <a:rPr sz="1200" b="1"/>
                        <a:t>Early enough?</a:t>
                      </a:r>
                    </a:p>
                  </a:txBody>
                  <a:tcPr/>
                </a:tc>
                <a:tc>
                  <a:txBody>
                    <a:bodyPr/>
                    <a:lstStyle/>
                    <a:p>
                      <a:r>
                        <a:rPr sz="1200" b="1"/>
                        <a:t>Selective?</a:t>
                      </a:r>
                    </a:p>
                  </a:txBody>
                  <a:tcPr/>
                </a:tc>
                <a:tc>
                  <a:txBody>
                    <a:bodyPr/>
                    <a:lstStyle/>
                    <a:p>
                      <a:r>
                        <a:rPr sz="1200" b="1"/>
                        <a:t>One current owner?</a:t>
                      </a:r>
                    </a:p>
                  </a:txBody>
                  <a:tcPr/>
                </a:tc>
              </a:tr>
              <a:tr h="433333">
                <a:tc>
                  <a:txBody>
                    <a:bodyPr/>
                    <a:lstStyle/>
                    <a:p>
                      <a:r>
                        <a:rPr sz="1200" b="0"/>
                        <a:t>Cold restart</a:t>
                      </a:r>
                    </a:p>
                  </a:txBody>
                  <a:tcPr/>
                </a:tc>
                <a:tc>
                  <a:txBody>
                    <a:bodyPr/>
                    <a:lstStyle/>
                    <a:p>
                      <a:r>
                        <a:rPr sz="1200" b="0">
                          <a:solidFill>
                            <a:srgbClr val="C0392B"/>
                          </a:solidFill>
                        </a:rPr>
                        <a:t>no</a:t>
                      </a:r>
                    </a:p>
                  </a:txBody>
                  <a:tcPr/>
                </a:tc>
                <a:tc>
                  <a:txBody>
                    <a:bodyPr/>
                    <a:lstStyle/>
                    <a:p>
                      <a:r>
                        <a:rPr sz="1200" b="0">
                          <a:solidFill>
                            <a:srgbClr val="212121"/>
                          </a:solidFill>
                        </a:rPr>
                        <a:t>-</a:t>
                      </a:r>
                    </a:p>
                  </a:txBody>
                  <a:tcPr/>
                </a:tc>
                <a:tc>
                  <a:txBody>
                    <a:bodyPr/>
                    <a:lstStyle/>
                    <a:p>
                      <a:r>
                        <a:rPr sz="1200" b="0">
                          <a:solidFill>
                            <a:srgbClr val="2E7D32"/>
                          </a:solidFill>
                        </a:rPr>
                        <a:t>yes</a:t>
                      </a:r>
                    </a:p>
                  </a:txBody>
                  <a:tcPr/>
                </a:tc>
                <a:tc>
                  <a:txBody>
                    <a:bodyPr/>
                    <a:lstStyle/>
                    <a:p>
                      <a:r>
                        <a:rPr sz="1200" b="0">
                          <a:solidFill>
                            <a:srgbClr val="2E7D32"/>
                          </a:solidFill>
                        </a:rPr>
                        <a:t>yes</a:t>
                      </a:r>
                    </a:p>
                  </a:txBody>
                  <a:tcPr/>
                </a:tc>
              </a:tr>
              <a:tr h="433333">
                <a:tc>
                  <a:txBody>
                    <a:bodyPr/>
                    <a:lstStyle/>
                    <a:p>
                      <a:r>
                        <a:rPr sz="1200" b="0"/>
                        <a:t>Kalman / current snapshot</a:t>
                      </a:r>
                    </a:p>
                  </a:txBody>
                  <a:tcPr/>
                </a:tc>
                <a:tc>
                  <a:txBody>
                    <a:bodyPr/>
                    <a:lstStyle/>
                    <a:p>
                      <a:r>
                        <a:rPr sz="1200" b="0">
                          <a:solidFill>
                            <a:srgbClr val="C0392B"/>
                          </a:solidFill>
                        </a:rPr>
                        <a:t>no under maneuvering</a:t>
                      </a:r>
                    </a:p>
                  </a:txBody>
                  <a:tcPr/>
                </a:tc>
                <a:tc>
                  <a:txBody>
                    <a:bodyPr/>
                    <a:lstStyle/>
                    <a:p>
                      <a:r>
                        <a:rPr sz="1200" b="0">
                          <a:solidFill>
                            <a:srgbClr val="2E7D32"/>
                          </a:solidFill>
                        </a:rPr>
                        <a:t>yes / no</a:t>
                      </a:r>
                    </a:p>
                  </a:txBody>
                  <a:tcPr/>
                </a:tc>
                <a:tc>
                  <a:txBody>
                    <a:bodyPr/>
                    <a:lstStyle/>
                    <a:p>
                      <a:r>
                        <a:rPr sz="1200" b="0">
                          <a:solidFill>
                            <a:srgbClr val="2E7D32"/>
                          </a:solidFill>
                        </a:rPr>
                        <a:t>yes</a:t>
                      </a:r>
                    </a:p>
                  </a:txBody>
                  <a:tcPr/>
                </a:tc>
                <a:tc>
                  <a:txBody>
                    <a:bodyPr/>
                    <a:lstStyle/>
                    <a:p>
                      <a:r>
                        <a:rPr sz="1200" b="0">
                          <a:solidFill>
                            <a:srgbClr val="2E7D32"/>
                          </a:solidFill>
                        </a:rPr>
                        <a:t>yes</a:t>
                      </a:r>
                    </a:p>
                  </a:txBody>
                  <a:tcPr/>
                </a:tc>
              </a:tr>
              <a:tr h="433333">
                <a:tc>
                  <a:txBody>
                    <a:bodyPr/>
                    <a:lstStyle/>
                    <a:p>
                      <a:r>
                        <a:rPr sz="1200" b="0"/>
                        <a:t>Transfer at boundary</a:t>
                      </a:r>
                    </a:p>
                  </a:txBody>
                  <a:tcPr/>
                </a:tc>
                <a:tc>
                  <a:txBody>
                    <a:bodyPr/>
                    <a:lstStyle/>
                    <a:p>
                      <a:r>
                        <a:rPr sz="1200" b="0">
                          <a:solidFill>
                            <a:srgbClr val="2E7D32"/>
                          </a:solidFill>
                        </a:rPr>
                        <a:t>yes if full state</a:t>
                      </a:r>
                    </a:p>
                  </a:txBody>
                  <a:tcPr/>
                </a:tc>
                <a:tc>
                  <a:txBody>
                    <a:bodyPr/>
                    <a:lstStyle/>
                    <a:p>
                      <a:r>
                        <a:rPr sz="1200" b="0">
                          <a:solidFill>
                            <a:srgbClr val="C0392B"/>
                          </a:solidFill>
                        </a:rPr>
                        <a:t>no</a:t>
                      </a:r>
                    </a:p>
                  </a:txBody>
                  <a:tcPr/>
                </a:tc>
                <a:tc>
                  <a:txBody>
                    <a:bodyPr/>
                    <a:lstStyle/>
                    <a:p>
                      <a:r>
                        <a:rPr sz="1200" b="0">
                          <a:solidFill>
                            <a:srgbClr val="2E7D32"/>
                          </a:solidFill>
                        </a:rPr>
                        <a:t>yes</a:t>
                      </a:r>
                    </a:p>
                  </a:txBody>
                  <a:tcPr/>
                </a:tc>
                <a:tc>
                  <a:txBody>
                    <a:bodyPr/>
                    <a:lstStyle/>
                    <a:p>
                      <a:r>
                        <a:rPr sz="1200" b="0">
                          <a:solidFill>
                            <a:srgbClr val="2E7D32"/>
                          </a:solidFill>
                        </a:rPr>
                        <a:t>yes</a:t>
                      </a:r>
                    </a:p>
                  </a:txBody>
                  <a:tcPr/>
                </a:tc>
              </a:tr>
              <a:tr h="433333">
                <a:tc>
                  <a:txBody>
                    <a:bodyPr/>
                    <a:lstStyle/>
                    <a:p>
                      <a:r>
                        <a:rPr sz="1200" b="0"/>
                        <a:t>EdgeWarp radio timing</a:t>
                      </a:r>
                    </a:p>
                  </a:txBody>
                  <a:tcPr/>
                </a:tc>
                <a:tc>
                  <a:txBody>
                    <a:bodyPr/>
                    <a:lstStyle/>
                    <a:p>
                      <a:r>
                        <a:rPr sz="1200" b="0">
                          <a:solidFill>
                            <a:srgbClr val="2E7D32"/>
                          </a:solidFill>
                        </a:rPr>
                        <a:t>yes if full state</a:t>
                      </a:r>
                    </a:p>
                  </a:txBody>
                  <a:tcPr/>
                </a:tc>
                <a:tc>
                  <a:txBody>
                    <a:bodyPr/>
                    <a:lstStyle/>
                    <a:p>
                      <a:r>
                        <a:rPr sz="1200" b="0">
                          <a:solidFill>
                            <a:srgbClr val="212121"/>
                          </a:solidFill>
                        </a:rPr>
                        <a:t>sometimes</a:t>
                      </a:r>
                    </a:p>
                  </a:txBody>
                  <a:tcPr/>
                </a:tc>
                <a:tc>
                  <a:txBody>
                    <a:bodyPr/>
                    <a:lstStyle/>
                    <a:p>
                      <a:r>
                        <a:rPr sz="1200" b="0">
                          <a:solidFill>
                            <a:srgbClr val="2E7D32"/>
                          </a:solidFill>
                        </a:rPr>
                        <a:t>yes</a:t>
                      </a:r>
                    </a:p>
                  </a:txBody>
                  <a:tcPr/>
                </a:tc>
                <a:tc>
                  <a:txBody>
                    <a:bodyPr/>
                    <a:lstStyle/>
                    <a:p>
                      <a:r>
                        <a:rPr sz="1200" b="0">
                          <a:solidFill>
                            <a:srgbClr val="2E7D32"/>
                          </a:solidFill>
                        </a:rPr>
                        <a:t>yes</a:t>
                      </a:r>
                    </a:p>
                  </a:txBody>
                  <a:tcPr/>
                </a:tc>
              </a:tr>
              <a:tr h="433333">
                <a:tc>
                  <a:txBody>
                    <a:bodyPr/>
                    <a:lstStyle/>
                    <a:p>
                      <a:r>
                        <a:rPr sz="1200" b="0"/>
                        <a:t>Geometric overlap</a:t>
                      </a:r>
                    </a:p>
                  </a:txBody>
                  <a:tcPr/>
                </a:tc>
                <a:tc>
                  <a:txBody>
                    <a:bodyPr/>
                    <a:lstStyle/>
                    <a:p>
                      <a:r>
                        <a:rPr sz="1200" b="0">
                          <a:solidFill>
                            <a:srgbClr val="2E7D32"/>
                          </a:solidFill>
                        </a:rPr>
                        <a:t>yes</a:t>
                      </a:r>
                    </a:p>
                  </a:txBody>
                  <a:tcPr/>
                </a:tc>
                <a:tc>
                  <a:txBody>
                    <a:bodyPr/>
                    <a:lstStyle/>
                    <a:p>
                      <a:r>
                        <a:rPr sz="1200" b="0">
                          <a:solidFill>
                            <a:srgbClr val="212121"/>
                          </a:solidFill>
                        </a:rPr>
                        <a:t>depends on width and speed</a:t>
                      </a:r>
                    </a:p>
                  </a:txBody>
                  <a:tcPr/>
                </a:tc>
                <a:tc>
                  <a:txBody>
                    <a:bodyPr/>
                    <a:lstStyle/>
                    <a:p>
                      <a:r>
                        <a:rPr sz="1200" b="0">
                          <a:solidFill>
                            <a:srgbClr val="C0392B"/>
                          </a:solidFill>
                        </a:rPr>
                        <a:t>no</a:t>
                      </a:r>
                    </a:p>
                  </a:txBody>
                  <a:tcPr/>
                </a:tc>
                <a:tc>
                  <a:txBody>
                    <a:bodyPr/>
                    <a:lstStyle/>
                    <a:p>
                      <a:r>
                        <a:rPr sz="1200" b="0">
                          <a:solidFill>
                            <a:srgbClr val="2E7D32"/>
                          </a:solidFill>
                        </a:rPr>
                        <a:t>yes</a:t>
                      </a:r>
                    </a:p>
                  </a:txBody>
                  <a:tcPr/>
                </a:tc>
              </a:tr>
              <a:tr h="433333">
                <a:tc>
                  <a:txBody>
                    <a:bodyPr/>
                    <a:lstStyle/>
                    <a:p>
                      <a:r>
                        <a:rPr sz="1200" b="0"/>
                        <a:t>Continuous replication</a:t>
                      </a:r>
                    </a:p>
                  </a:txBody>
                  <a:tcPr/>
                </a:tc>
                <a:tc>
                  <a:txBody>
                    <a:bodyPr/>
                    <a:lstStyle/>
                    <a:p>
                      <a:r>
                        <a:rPr sz="1200" b="0">
                          <a:solidFill>
                            <a:srgbClr val="2E7D32"/>
                          </a:solidFill>
                        </a:rPr>
                        <a:t>yes</a:t>
                      </a:r>
                    </a:p>
                  </a:txBody>
                  <a:tcPr/>
                </a:tc>
                <a:tc>
                  <a:txBody>
                    <a:bodyPr/>
                    <a:lstStyle/>
                    <a:p>
                      <a:r>
                        <a:rPr sz="1200" b="0">
                          <a:solidFill>
                            <a:srgbClr val="2E7D32"/>
                          </a:solidFill>
                        </a:rPr>
                        <a:t>yes</a:t>
                      </a:r>
                    </a:p>
                  </a:txBody>
                  <a:tcPr/>
                </a:tc>
                <a:tc>
                  <a:txBody>
                    <a:bodyPr/>
                    <a:lstStyle/>
                    <a:p>
                      <a:r>
                        <a:rPr sz="1200" b="0">
                          <a:solidFill>
                            <a:srgbClr val="C0392B"/>
                          </a:solidFill>
                        </a:rPr>
                        <a:t>no</a:t>
                      </a:r>
                    </a:p>
                  </a:txBody>
                  <a:tcPr/>
                </a:tc>
                <a:tc>
                  <a:txBody>
                    <a:bodyPr/>
                    <a:lstStyle/>
                    <a:p>
                      <a:r>
                        <a:rPr sz="1200" b="0">
                          <a:solidFill>
                            <a:srgbClr val="2E7D32"/>
                          </a:solidFill>
                        </a:rPr>
                        <a:t>yes</a:t>
                      </a:r>
                    </a:p>
                  </a:txBody>
                  <a:tcPr/>
                </a:tc>
              </a:tr>
              <a:tr h="433333">
                <a:tc>
                  <a:txBody>
                    <a:bodyPr/>
                    <a:lstStyle/>
                    <a:p>
                      <a:r>
                        <a:rPr sz="1200" b="0"/>
                        <a:t>Dual publication</a:t>
                      </a:r>
                    </a:p>
                  </a:txBody>
                  <a:tcPr/>
                </a:tc>
                <a:tc>
                  <a:txBody>
                    <a:bodyPr/>
                    <a:lstStyle/>
                    <a:p>
                      <a:r>
                        <a:rPr sz="1200" b="0">
                          <a:solidFill>
                            <a:srgbClr val="2E7D32"/>
                          </a:solidFill>
                        </a:rPr>
                        <a:t>yes</a:t>
                      </a:r>
                    </a:p>
                  </a:txBody>
                  <a:tcPr/>
                </a:tc>
                <a:tc>
                  <a:txBody>
                    <a:bodyPr/>
                    <a:lstStyle/>
                    <a:p>
                      <a:r>
                        <a:rPr sz="1200" b="0">
                          <a:solidFill>
                            <a:srgbClr val="2E7D32"/>
                          </a:solidFill>
                        </a:rPr>
                        <a:t>yes</a:t>
                      </a:r>
                    </a:p>
                  </a:txBody>
                  <a:tcPr/>
                </a:tc>
                <a:tc>
                  <a:txBody>
                    <a:bodyPr/>
                    <a:lstStyle/>
                    <a:p>
                      <a:r>
                        <a:rPr sz="1200" b="0">
                          <a:solidFill>
                            <a:srgbClr val="C0392B"/>
                          </a:solidFill>
                        </a:rPr>
                        <a:t>no</a:t>
                      </a:r>
                    </a:p>
                  </a:txBody>
                  <a:tcPr/>
                </a:tc>
                <a:tc>
                  <a:txBody>
                    <a:bodyPr/>
                    <a:lstStyle/>
                    <a:p>
                      <a:r>
                        <a:rPr sz="1200" b="0">
                          <a:solidFill>
                            <a:srgbClr val="C0392B"/>
                          </a:solidFill>
                        </a:rPr>
                        <a:t>NO</a:t>
                      </a:r>
                    </a:p>
                  </a:txBody>
                  <a:tcPr/>
                </a:tc>
              </a:tr>
              <a:tr h="433336">
                <a:tc>
                  <a:txBody>
                    <a:bodyPr/>
                    <a:lstStyle/>
                    <a:p>
                      <a:r>
                        <a:rPr sz="1200" b="1"/>
                        <a:t>Khonsu</a:t>
                      </a:r>
                    </a:p>
                  </a:txBody>
                  <a:tcPr/>
                </a:tc>
                <a:tc>
                  <a:txBody>
                    <a:bodyPr/>
                    <a:lstStyle/>
                    <a:p>
                      <a:r>
                        <a:rPr sz="1200" b="1">
                          <a:solidFill>
                            <a:srgbClr val="2E7D32"/>
                          </a:solidFill>
                        </a:rPr>
                        <a:t>yes</a:t>
                      </a:r>
                    </a:p>
                  </a:txBody>
                  <a:tcPr/>
                </a:tc>
                <a:tc>
                  <a:txBody>
                    <a:bodyPr/>
                    <a:lstStyle/>
                    <a:p>
                      <a:r>
                        <a:rPr sz="1200" b="1">
                          <a:solidFill>
                            <a:srgbClr val="2E7D32"/>
                          </a:solidFill>
                        </a:rPr>
                        <a:t>yes</a:t>
                      </a:r>
                    </a:p>
                  </a:txBody>
                  <a:tcPr/>
                </a:tc>
                <a:tc>
                  <a:txBody>
                    <a:bodyPr/>
                    <a:lstStyle/>
                    <a:p>
                      <a:r>
                        <a:rPr sz="1200" b="1">
                          <a:solidFill>
                            <a:srgbClr val="2E7D32"/>
                          </a:solidFill>
                        </a:rPr>
                        <a:t>yes</a:t>
                      </a:r>
                    </a:p>
                  </a:txBody>
                  <a:tcPr/>
                </a:tc>
                <a:tc>
                  <a:txBody>
                    <a:bodyPr/>
                    <a:lstStyle/>
                    <a:p>
                      <a:r>
                        <a:rPr sz="1200" b="1">
                          <a:solidFill>
                            <a:srgbClr val="2E7D32"/>
                          </a:solidFill>
                        </a:rPr>
                        <a:t>yes</a:t>
                      </a:r>
                    </a:p>
                  </a:txBody>
                  <a:tcPr/>
                </a:tc>
              </a:tr>
            </a:tbl>
          </a:graphicData>
        </a:graphic>
      </p:graphicFrame>
      <p:sp>
        <p:nvSpPr>
          <p:cNvPr id="5" name="TextBox 4"/>
          <p:cNvSpPr txBox="1"/>
          <p:nvPr/>
        </p:nvSpPr>
        <p:spPr>
          <a:xfrm>
            <a:off x="640080" y="5300000"/>
            <a:ext cx="10972800" cy="700000"/>
          </a:xfrm>
          <a:prstGeom prst="rect">
            <a:avLst/>
          </a:prstGeom>
          <a:noFill/>
        </p:spPr>
        <p:txBody>
          <a:bodyPr wrap="square">
            <a:spAutoFit/>
          </a:bodyPr>
          <a:lstStyle/>
          <a:p>
            <a:pPr>
              <a:spcAft>
                <a:spcPts val="600"/>
              </a:spcAft>
            </a:pPr>
            <a:r>
              <a:rPr sz="1200" b="0">
                <a:solidFill>
                  <a:srgbClr val="212121"/>
                </a:solidFill>
              </a:rPr>
              <a:t>Each column is one experiment: state at fixed timing (RQ2), timing at fixed state (trigger table), selectivity (overlap and replication cost), ownership (fault arms).</a:t>
            </a:r>
          </a:p>
        </p:txBody>
      </p:sp>
      <p:sp>
        <p:nvSpPr>
          <p:cNvPr id="6" name="TextBox 5"/>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Replication and wide overlap are valid designs; the question is their steady-state cost against selective migration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Why doesn't overlap eliminate the problem?</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graphicFrame>
        <p:nvGraphicFramePr>
          <p:cNvPr id="4" name="Table 3"/>
          <p:cNvGraphicFramePr>
            <a:graphicFrameLocks noGrp="1"/>
          </p:cNvGraphicFramePr>
          <p:nvPr/>
        </p:nvGraphicFramePr>
        <p:xfrm>
          <a:off x="548640" y="1150000"/>
          <a:ext cx="11094720" cy="2900000"/>
        </p:xfrm>
        <a:graphic>
          <a:graphicData uri="http://schemas.openxmlformats.org/drawingml/2006/table">
            <a:tbl>
              <a:tblPr firstRow="1" bandRow="1">
                <a:tableStyleId>{5C22544A-7EE6-4342-B048-85BDC9FD1C3A}</a:tableStyleId>
              </a:tblPr>
              <a:tblGrid>
                <a:gridCol w="2400000"/>
                <a:gridCol w="3800000"/>
                <a:gridCol w="4894720"/>
              </a:tblGrid>
              <a:tr h="580000">
                <a:tc>
                  <a:txBody>
                    <a:bodyPr/>
                    <a:lstStyle/>
                    <a:p>
                      <a:r>
                        <a:rPr sz="1200" b="1"/>
                        <a:t>Proposal</a:t>
                      </a:r>
                    </a:p>
                  </a:txBody>
                  <a:tcPr/>
                </a:tc>
                <a:tc>
                  <a:txBody>
                    <a:bodyPr/>
                    <a:lstStyle/>
                    <a:p>
                      <a:r>
                        <a:rPr sz="1200" b="1"/>
                        <a:t>What it gives you</a:t>
                      </a:r>
                    </a:p>
                  </a:txBody>
                  <a:tcPr/>
                </a:tc>
                <a:tc>
                  <a:txBody>
                    <a:bodyPr/>
                    <a:lstStyle/>
                    <a:p>
                      <a:r>
                        <a:rPr sz="1200" b="1"/>
                        <a:t>What remains</a:t>
                      </a:r>
                    </a:p>
                  </a:txBody>
                  <a:tcPr/>
                </a:tc>
              </a:tr>
              <a:tr h="580000">
                <a:tc>
                  <a:txBody>
                    <a:bodyPr/>
                    <a:lstStyle/>
                    <a:p>
                      <a:r>
                        <a:rPr sz="1200" b="0"/>
                        <a:t>Sensing overlap</a:t>
                      </a:r>
                    </a:p>
                  </a:txBody>
                  <a:tcPr/>
                </a:tc>
                <a:tc>
                  <a:txBody>
                    <a:bodyPr/>
                    <a:lstStyle/>
                    <a:p>
                      <a:r>
                        <a:rPr sz="1200" b="0"/>
                        <a:t>both locales detect the actor near the boundary</a:t>
                      </a:r>
                    </a:p>
                  </a:txBody>
                  <a:tcPr/>
                </a:tc>
                <a:tc>
                  <a:txBody>
                    <a:bodyPr/>
                    <a:lstStyle/>
                    <a:p>
                      <a:r>
                        <a:rPr sz="1200" b="0"/>
                        <a:t>B still lacks A's earlier history</a:t>
                      </a:r>
                    </a:p>
                  </a:txBody>
                  <a:tcPr/>
                </a:tc>
              </a:tr>
              <a:tr h="580000">
                <a:tc>
                  <a:txBody>
                    <a:bodyPr/>
                    <a:lstStyle/>
                    <a:p>
                      <a:r>
                        <a:rPr sz="1200" b="0"/>
                        <a:t>Compute overlap</a:t>
                      </a:r>
                    </a:p>
                  </a:txBody>
                  <a:tcPr/>
                </a:tc>
                <a:tc>
                  <a:txBody>
                    <a:bodyPr/>
                    <a:lstStyle/>
                    <a:p>
                      <a:r>
                        <a:rPr sz="1200" b="0"/>
                        <a:t>B can start processing early</a:t>
                      </a:r>
                    </a:p>
                  </a:txBody>
                  <a:tcPr/>
                </a:tc>
                <a:tc>
                  <a:txBody>
                    <a:bodyPr/>
                    <a:lstStyle/>
                    <a:p>
                      <a:r>
                        <a:rPr sz="1200" b="0"/>
                        <a:t>a fixed width gives a speed-dependent lead (w / v) and duplicates computation</a:t>
                      </a:r>
                    </a:p>
                  </a:txBody>
                  <a:tcPr/>
                </a:tc>
              </a:tr>
              <a:tr h="580000">
                <a:tc>
                  <a:txBody>
                    <a:bodyPr/>
                    <a:lstStyle/>
                    <a:p>
                      <a:r>
                        <a:rPr sz="1200" b="0"/>
                        <a:t>Dual authority</a:t>
                      </a:r>
                    </a:p>
                  </a:txBody>
                  <a:tcPr/>
                </a:tc>
                <a:tc>
                  <a:txBody>
                    <a:bodyPr/>
                    <a:lstStyle/>
                    <a:p>
                      <a:r>
                        <a:rPr sz="1200" b="0"/>
                        <a:t>no hard cutover</a:t>
                      </a:r>
                    </a:p>
                  </a:txBody>
                  <a:tcPr/>
                </a:tc>
                <a:tc>
                  <a:txBody>
                    <a:bodyPr/>
                    <a:lstStyle/>
                    <a:p>
                      <a:r>
                        <a:rPr sz="1200" b="0"/>
                        <a:t>two services can publish different forecasts; the planner still needs ownership or arbitration</a:t>
                      </a:r>
                    </a:p>
                  </a:txBody>
                  <a:tcPr/>
                </a:tc>
              </a:tr>
              <a:tr h="580000">
                <a:tc>
                  <a:txBody>
                    <a:bodyPr/>
                    <a:lstStyle/>
                    <a:p>
                      <a:r>
                        <a:rPr sz="1200" b="0"/>
                        <a:t>Continuous replication</a:t>
                      </a:r>
                    </a:p>
                  </a:txBody>
                  <a:tcPr/>
                </a:tc>
                <a:tc>
                  <a:txBody>
                    <a:bodyPr/>
                    <a:lstStyle/>
                    <a:p>
                      <a:r>
                        <a:rPr sz="1200" b="0"/>
                        <a:t>continuity for every track</a:t>
                      </a:r>
                    </a:p>
                  </a:txBody>
                  <a:tcPr/>
                </a:tc>
                <a:tc>
                  <a:txBody>
                    <a:bodyPr/>
                    <a:lstStyle/>
                    <a:p>
                      <a:r>
                        <a:rPr sz="1200" b="0"/>
                        <a:t>cost proportional to all tracks x neighboring locales, not to crossing tracks</a:t>
                      </a:r>
                    </a:p>
                  </a:txBody>
                  <a:tcPr/>
                </a:tc>
              </a:tr>
            </a:tbl>
          </a:graphicData>
        </a:graphic>
      </p:graphicFrame>
      <p:sp>
        <p:nvSpPr>
          <p:cNvPr id="5" name="TextBox 4"/>
          <p:cNvSpPr txBox="1"/>
          <p:nvPr/>
        </p:nvSpPr>
        <p:spPr>
          <a:xfrm>
            <a:off x="640080" y="4300000"/>
            <a:ext cx="10972800" cy="1500000"/>
          </a:xfrm>
          <a:prstGeom prst="rect">
            <a:avLst/>
          </a:prstGeom>
          <a:noFill/>
        </p:spPr>
        <p:txBody>
          <a:bodyPr wrap="square">
            <a:spAutoFit/>
          </a:bodyPr>
          <a:lstStyle/>
          <a:p>
            <a:pPr>
              <a:spcAft>
                <a:spcPts val="600"/>
              </a:spcAft>
            </a:pPr>
            <a:r>
              <a:rPr sz="1300" b="0">
                <a:solidFill>
                  <a:srgbClr val="212121"/>
                </a:solidFill>
              </a:rPr>
              <a:t>Measured so far: the forced-handoff microbench shows a current detection is not the history (sensing overlap). Planned: overlap width 20 to 120 m at 12 and 20 m/s in the three forms, and replication at a fixed rate, all with the same success and freshness metrics plus bytes per second and duplicated compute (T14, T19b).</a:t>
            </a:r>
          </a:p>
        </p:txBody>
      </p:sp>
      <p:sp>
        <p:nvSpPr>
          <p:cNvPr id="6" name="TextBox 5"/>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Desired result: replication and wide overlap approach Khonsu on continuity at substantially higher steady-state cost; reactive mechanisms are cheaper but miss the deadline; Khonsu sits in the useful middle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Khonsu mechanism</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The predictor already forecasts each actor. A forecast that crosses the boundary names the actor, the destination, and the arrival time.</a:t>
            </a:r>
          </a:p>
          <a:p>
            <a:pPr>
              <a:spcAft>
                <a:spcPts val="800"/>
              </a:spcAft>
            </a:pPr>
            <a:r>
              <a:rPr sz="1600" b="0">
                <a:solidFill>
                  <a:srgbClr val="212121"/>
                </a:solidFill>
              </a:rPr>
              <a:t>• Prepare moves the temporal track state early. The imported track is a shadow: tracked, not published, until the actor enters the locale.</a:t>
            </a:r>
          </a:p>
          <a:p>
            <a:pPr>
              <a:spcAft>
                <a:spcPts val="800"/>
              </a:spcAft>
            </a:pPr>
            <a:r>
              <a:rPr sz="1600" b="0">
                <a:solidFill>
                  <a:srgbClr val="212121"/>
                </a:solidFill>
              </a:rPr>
              <a:t>• At commit the source sends its latest record and it replaces the prepared one, so drift accumulated during the lead is discarded.</a:t>
            </a:r>
          </a:p>
          <a:p>
            <a:pPr>
              <a:spcAft>
                <a:spcPts val="800"/>
              </a:spcAft>
            </a:pPr>
            <a:r>
              <a:rPr sz="1600" b="0">
                <a:solidFill>
                  <a:srgbClr val="212121"/>
                </a:solidFill>
              </a:rPr>
              <a:t>• The destination merges its first own detection into the migrated track by stable ID; a position gate on the projected pose is the fallback.</a:t>
            </a:r>
          </a:p>
          <a:p>
            <a:pPr>
              <a:spcAft>
                <a:spcPts val="800"/>
              </a:spcAft>
            </a:pPr>
            <a:r>
              <a:rPr sz="1600" b="0">
                <a:solidFill>
                  <a:srgbClr val="212121"/>
                </a:solidFill>
              </a:rPr>
              <a:t>• Every forecast carries an ownership epoch. Planners accept only the highest, so one owner is consumed.</a:t>
            </a:r>
          </a:p>
          <a:p>
            <a:pPr>
              <a:spcAft>
                <a:spcPts val="800"/>
              </a:spcAft>
            </a:pPr>
            <a:r>
              <a:rPr sz="1600" b="0">
                <a:solidFill>
                  <a:srgbClr val="212121"/>
                </a:solidFill>
              </a:rPr>
              <a:t>• If the state cannot be imported safely, the track is marked cold and the planner falls back.</a:t>
            </a:r>
          </a:p>
        </p:txBody>
      </p:sp>
      <p:sp>
        <p:nvSpPr>
          <p:cNvPr id="6" name="TextBox 5"/>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Lead time is computed from the age chain, transfer EMA plus destination fold-in plus margin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Two experiments, not one: what must move, and when</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Running</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Experiment A holds timing fixed (Khonsu trigger with final update) and varies the state: nothing, latest detection, Kalman state, 2- and 5-frame history, full temporal record. Claim: a snapshot is insufficient; the history matters.</a:t>
            </a:r>
          </a:p>
          <a:p>
            <a:pPr>
              <a:spcAft>
                <a:spcPts val="800"/>
              </a:spcAft>
            </a:pPr>
            <a:r>
              <a:rPr sz="1600" b="0">
                <a:solidFill>
                  <a:srgbClr val="212121"/>
                </a:solidFill>
              </a:rPr>
              <a:t>• Experiment B holds the state fixed (full temporal record for every arm) and varies the timing: transfer at the boundary, EdgeWarp radio timing, geometric band, fixed 1 to 4 s leads, Khonsu predicted lead, trigger oracle. Report warm before first use, freshness compliance, wrong destination, wasted bytes.</a:t>
            </a:r>
          </a:p>
          <a:p>
            <a:pPr>
              <a:spcAft>
                <a:spcPts val="800"/>
              </a:spcAft>
            </a:pPr>
            <a:r>
              <a:rPr sz="1600" b="0">
                <a:solidFill>
                  <a:srgbClr val="212121"/>
                </a:solidFill>
              </a:rPr>
              <a:t>• The current headline table confounds the two: EdgeWarp carries a snapshot while reactive carries the full record. Both experiments are added to tonight's campaign on the same tag.</a:t>
            </a:r>
          </a:p>
        </p:txBody>
      </p:sp>
      <p:sp>
        <p:nvSpPr>
          <p:cNvPr id="6" name="TextBox 5"/>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If EdgeWarp timing fails in Experiment B it fails because its trigger event is wrong or late, not because its payload was handicapped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The result the evaluation should culminate in</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Needed</a:t>
            </a:r>
          </a:p>
        </p:txBody>
      </p:sp>
      <p:pic>
        <p:nvPicPr>
          <p:cNvPr id="5" name="Picture 4" descr="toy_capstone.png"/>
          <p:cNvPicPr>
            <a:picLocks noChangeAspect="1"/>
          </p:cNvPicPr>
          <p:nvPr/>
        </p:nvPicPr>
        <p:blipFill>
          <a:blip r:embed="rId2"/>
          <a:stretch>
            <a:fillRect/>
          </a:stretch>
        </p:blipFill>
        <p:spPr>
          <a:xfrm>
            <a:off x="500000" y="1150000"/>
            <a:ext cx="7400000" cy="4122857"/>
          </a:xfrm>
          <a:prstGeom prst="rect">
            <a:avLst/>
          </a:prstGeom>
        </p:spPr>
      </p:pic>
      <p:sp>
        <p:nvSpPr>
          <p:cNvPr id="6" name="TextBox 5"/>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7" name="TextBox 6"/>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Where does each mechanism sit on continuity against system cost?</a:t>
            </a:r>
          </a:p>
        </p:txBody>
      </p:sp>
      <p:sp>
        <p:nvSpPr>
          <p:cNvPr id="8" name="TextBox 7"/>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9" name="TextBox 8"/>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One figure over all arms from the same runs: x is extra cost (bytes per second and duplicated compute, normalized to replication), y is warm-and-fresh handoffs; operational success as a second panel.</a:t>
            </a:r>
          </a:p>
        </p:txBody>
      </p:sp>
      <p:sp>
        <p:nvSpPr>
          <p:cNvPr id="10" name="TextBox 9"/>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1" name="TextBox 10"/>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Reactive schemes cheap but not warm in time; wide overlap and replication warm but expensive; Khonsu warm at a fraction of the cost; oracle the bound. The statement: Khonsu keeps X% of handoffs warm and fresh and Y% operational success while moving Z KB per crossing.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RQ3: evidence so far</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sp>
        <p:nvSpPr>
          <p:cNvPr id="5" name="TextBox 4"/>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Six defects between the paper's protocol and the code were found by measured collapses this week and fixed, each followed by a rerun: scenario geometry, missing final update, trigger without a lead gate, publish before commit, association ignoring identity, and a planner overtake gate that skipped head-on tracks.</a:t>
            </a:r>
          </a:p>
          <a:p>
            <a:pPr>
              <a:spcAft>
                <a:spcPts val="800"/>
              </a:spcAft>
            </a:pPr>
            <a:r>
              <a:rPr sz="1600" b="0">
                <a:solidFill>
                  <a:srgbClr val="212121"/>
                </a:solidFill>
              </a:rPr>
              <a:t>• Trigger ladder on freeze-1g, 10 runs per arm: fixed leads 1, 2, 3 s at 9 of 10; computed lead 9; predictor-mode 7; oracle 8; fixed 4 s 5 of 10 (the drift-then-duplicate failure that motivated the identity merge). Measured leads 0.9, 1.9, 2.9, 4.0 s.</a:t>
            </a:r>
          </a:p>
          <a:p>
            <a:pPr>
              <a:spcAft>
                <a:spcPts val="800"/>
              </a:spcAft>
            </a:pPr>
            <a:r>
              <a:rPr sz="1600" b="0">
                <a:solidFill>
                  <a:srgbClr val="212121"/>
                </a:solidFill>
              </a:rPr>
              <a:t>• Freshness limit, blind overtake, radio load through the ns-3 lookup table, 7 loads x 5 runs: the pipeline floor is 300 ms of age; all runs complete up to 1.0 s of forecast age in the 2 s decision window; onset at 1.2 s (2 of 5 collide at 31 contending vehicles).</a:t>
            </a:r>
          </a:p>
          <a:p>
            <a:pPr>
              <a:spcAft>
                <a:spcPts val="800"/>
              </a:spcAft>
            </a:pPr>
            <a:r>
              <a:rPr sz="1600" b="0">
                <a:solidFill>
                  <a:srgbClr val="212121"/>
                </a:solidFill>
              </a:rPr>
              <a:t>• Density at 2, 4, 8 oncoming vehicles: Khonsu 5, 3, 5 of 5; EdgeWarp 0; cold 1, 1, 0.</a:t>
            </a:r>
          </a:p>
          <a:p>
            <a:pPr>
              <a:spcAft>
                <a:spcPts val="800"/>
              </a:spcAft>
            </a:pPr>
            <a:r>
              <a:rPr sz="1600" b="0">
                <a:solidFill>
                  <a:srgbClr val="212121"/>
                </a:solidFill>
              </a:rPr>
              <a:t>• Ownership protocol: eight fault scenarios, one publishable epoch at every step; live fault arms run tonight.</a:t>
            </a:r>
          </a:p>
        </p:txBody>
      </p:sp>
      <p:sp>
        <p:nvSpPr>
          <p:cNvPr id="6" name="TextBox 5"/>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Running tonight on freeze-1i: headline and trigger at 20 seeds, burst and density, acceleration freshness, FDE at 5 s per arm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A trigger must be early without migrating everything</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Done</a:t>
            </a:r>
          </a:p>
        </p:txBody>
      </p:sp>
      <p:pic>
        <p:nvPicPr>
          <p:cNvPr id="5" name="Picture 4" descr="real_trigger.png"/>
          <p:cNvPicPr>
            <a:picLocks noChangeAspect="1"/>
          </p:cNvPicPr>
          <p:nvPr/>
        </p:nvPicPr>
        <p:blipFill>
          <a:blip r:embed="rId2"/>
          <a:stretch>
            <a:fillRect/>
          </a:stretch>
        </p:blipFill>
        <p:spPr>
          <a:xfrm>
            <a:off x="500000" y="1150000"/>
            <a:ext cx="7012500" cy="4950000"/>
          </a:xfrm>
          <a:prstGeom prst="rect">
            <a:avLst/>
          </a:prstGeom>
        </p:spPr>
      </p:pic>
      <p:sp>
        <p:nvSpPr>
          <p:cNvPr id="6" name="TextBox 5"/>
          <p:cNvSpPr txBox="1"/>
          <p:nvPr/>
        </p:nvSpPr>
        <p:spPr>
          <a:xfrm>
            <a:off x="1150000" y="5950000"/>
            <a:ext cx="7400000" cy="320000"/>
          </a:xfrm>
          <a:prstGeom prst="rect">
            <a:avLst/>
          </a:prstGeom>
          <a:noFill/>
        </p:spPr>
        <p:txBody>
          <a:bodyPr wrap="square">
            <a:spAutoFit/>
          </a:bodyPr>
          <a:lstStyle/>
          <a:p>
            <a:pPr>
              <a:spcAft>
                <a:spcPts val="600"/>
              </a:spcAft>
            </a:pPr>
            <a:r>
              <a:rPr sz="1000" b="1">
                <a:solidFill>
                  <a:srgbClr val="2E7D32"/>
                </a:solidFill>
              </a:rPr>
              <a:t>MEASURED, freeze-1g, per-handoff true lead</a:t>
            </a:r>
          </a:p>
        </p:txBody>
      </p:sp>
      <p:sp>
        <p:nvSpPr>
          <p:cNvPr id="7" name="TextBox 6"/>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8" name="TextBox 7"/>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Why not EdgeWarp timing, a fixed band, or simply triggering 4 s early?</a:t>
            </a:r>
          </a:p>
        </p:txBody>
      </p:sp>
      <p:sp>
        <p:nvSpPr>
          <p:cNvPr id="9" name="TextBox 8"/>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10" name="TextBox 9"/>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Trigger study on the corrected scenario. Radio handover, bands of 5 to 80 m, fixed leads of 1 to 4 s, the computed lead, and the oracle. Record warm-before-use, wasted bytes, and the lead-time distribution (v3, T11).</a:t>
            </a:r>
          </a:p>
        </p:txBody>
      </p:sp>
      <p:sp>
        <p:nvSpPr>
          <p:cNvPr id="11" name="TextBox 10"/>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2" name="TextBox 11"/>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Khonsu near the oracle vertically while left of aggressive fixed leads and wide bands. The inset shows why: its lead tracks the predicted arrival.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Overlap can provide lead time, but its cost grows with width</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D6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Provisional</a:t>
            </a:r>
          </a:p>
        </p:txBody>
      </p:sp>
      <p:pic>
        <p:nvPicPr>
          <p:cNvPr id="5" name="Picture 4" descr="toy_overlap.png"/>
          <p:cNvPicPr>
            <a:picLocks noChangeAspect="1"/>
          </p:cNvPicPr>
          <p:nvPr/>
        </p:nvPicPr>
        <p:blipFill>
          <a:blip r:embed="rId2"/>
          <a:stretch>
            <a:fillRect/>
          </a:stretch>
        </p:blipFill>
        <p:spPr>
          <a:xfrm>
            <a:off x="500000" y="1150000"/>
            <a:ext cx="7400000" cy="3700000"/>
          </a:xfrm>
          <a:prstGeom prst="rect">
            <a:avLst/>
          </a:prstGeom>
        </p:spPr>
      </p:pic>
      <p:sp>
        <p:nvSpPr>
          <p:cNvPr id="6" name="TextBox 5"/>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7" name="TextBox 6"/>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Can overlapping locales eliminate the explicit handoff? Sensing overlap, compute overlap, and dual authority are three different things.</a:t>
            </a:r>
          </a:p>
        </p:txBody>
      </p:sp>
      <p:sp>
        <p:nvSpPr>
          <p:cNvPr id="8" name="TextBox 7"/>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9" name="TextBox 8"/>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Sweep overlap width 20 to 120 m for each meaning. Measure warm-before-use, bytes per crossing, dueling forecasts, age at use, collisions (T14). First sweep, replication doubled bytes and changed nothing (Provisional).</a:t>
            </a:r>
          </a:p>
        </p:txBody>
      </p:sp>
      <p:sp>
        <p:nvSpPr>
          <p:cNvPr id="10" name="TextBox 9"/>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1" name="TextBox 10"/>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Lead time from a fixed width shrinks with speed, so enough time at 20 m/s needs a wide overlap, and wider overlap means more duplicated work. Khonsu sizes the lead from the predicted arrival instead.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Ownership epochs block stale forecasts at the planner</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RQ3</a:t>
            </a:r>
          </a:p>
        </p:txBody>
      </p:sp>
      <p:sp>
        <p:nvSpPr>
          <p:cNvPr id="4" name="Rounded Rectangle 3"/>
          <p:cNvSpPr/>
          <p:nvPr/>
        </p:nvSpPr>
        <p:spPr>
          <a:xfrm>
            <a:off x="10200000" y="760000"/>
            <a:ext cx="1450000" cy="3300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Running</a:t>
            </a:r>
          </a:p>
        </p:txBody>
      </p:sp>
      <p:pic>
        <p:nvPicPr>
          <p:cNvPr id="5" name="Picture 4" descr="toy_faults.png"/>
          <p:cNvPicPr>
            <a:picLocks noChangeAspect="1"/>
          </p:cNvPicPr>
          <p:nvPr/>
        </p:nvPicPr>
        <p:blipFill>
          <a:blip r:embed="rId2"/>
          <a:stretch>
            <a:fillRect/>
          </a:stretch>
        </p:blipFill>
        <p:spPr>
          <a:xfrm>
            <a:off x="500000" y="1150000"/>
            <a:ext cx="7400000" cy="3700000"/>
          </a:xfrm>
          <a:prstGeom prst="rect">
            <a:avLst/>
          </a:prstGeom>
        </p:spPr>
      </p:pic>
      <p:sp>
        <p:nvSpPr>
          <p:cNvPr id="6" name="TextBox 5"/>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7" name="TextBox 6"/>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Both locales may emit forecasts for a moment under message loss. Does the planner ever consume a stale owner's forecast?</a:t>
            </a:r>
          </a:p>
        </p:txBody>
      </p:sp>
      <p:sp>
        <p:nvSpPr>
          <p:cNvPr id="8" name="TextBox 7"/>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9" name="TextBox 8"/>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Inject lost PREPARE, lost ACK, lost COMMIT, duplicate COMMIT, reordering, and destination failure on the live path, with the epoch check off and on (T7 live). The unit-level state machine already passes eight scenarios.</a:t>
            </a:r>
          </a:p>
        </p:txBody>
      </p:sp>
      <p:sp>
        <p:nvSpPr>
          <p:cNvPr id="10" name="TextBox 9"/>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1" name="TextBox 10"/>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Double emission may remain briefly with the check on. Stale-owner forecasts consumed must be exactly zero in every fault. Destination failure ends in fallback, not a stale consume.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How many simultaneous handoffs can one locale sustain?</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RQ4</a:t>
            </a:r>
          </a:p>
        </p:txBody>
      </p:sp>
      <p:sp>
        <p:nvSpPr>
          <p:cNvPr id="4" name="Rounded Rectangle 3"/>
          <p:cNvSpPr/>
          <p:nvPr/>
        </p:nvSpPr>
        <p:spPr>
          <a:xfrm>
            <a:off x="10200000" y="760000"/>
            <a:ext cx="1450000" cy="3300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Running</a:t>
            </a:r>
          </a:p>
        </p:txBody>
      </p:sp>
      <p:pic>
        <p:nvPicPr>
          <p:cNvPr id="5" name="Picture 4" descr="toy_load.png"/>
          <p:cNvPicPr>
            <a:picLocks noChangeAspect="1"/>
          </p:cNvPicPr>
          <p:nvPr/>
        </p:nvPicPr>
        <p:blipFill>
          <a:blip r:embed="rId2"/>
          <a:stretch>
            <a:fillRect/>
          </a:stretch>
        </p:blipFill>
        <p:spPr>
          <a:xfrm>
            <a:off x="500000" y="1150000"/>
            <a:ext cx="7400000" cy="3905555"/>
          </a:xfrm>
          <a:prstGeom prst="rect">
            <a:avLst/>
          </a:prstGeom>
        </p:spPr>
      </p:pic>
      <p:sp>
        <p:nvSpPr>
          <p:cNvPr id="6" name="TextBox 5"/>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7" name="TextBox 6"/>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At what crossing load does the handoff path stop meeting the budget?</a:t>
            </a:r>
          </a:p>
        </p:txBody>
      </p:sp>
      <p:sp>
        <p:nvSpPr>
          <p:cNvPr id="8" name="TextBox 7"/>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9" name="TextBox 8"/>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Landed (q5, 5 runs per cell): with 2, 4, and 8 oncoming vehicles, history 1 s ahead avoids a collision in 5, 2, and 4 runs, the handover snapshot in 0, 1, and 0, cold start in 0, 0, and 1. Needed: platoons of 1 to 16 tracks, p99 transfer-to-first-refresh latency against the handoff budget, with replication and dual-service overlap as arms (T19b).</a:t>
            </a:r>
          </a:p>
        </p:txBody>
      </p:sp>
      <p:sp>
        <p:nvSpPr>
          <p:cNvPr id="10" name="TextBox 9"/>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1" name="TextBox 10"/>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The concurrent-track count at which Khonsu crosses the budget, stated as a capacity. Replication and dual-service overlap should cross earlier.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RQ4: what happens across an actual corridor?</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RQ4</a:t>
            </a:r>
          </a:p>
        </p:txBody>
      </p:sp>
      <p:sp>
        <p:nvSpPr>
          <p:cNvPr id="4" name="Rounded Rectangle 3"/>
          <p:cNvSpPr/>
          <p:nvPr/>
        </p:nvSpPr>
        <p:spPr>
          <a:xfrm>
            <a:off x="10200000" y="760000"/>
            <a:ext cx="1450000" cy="33000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Needed</a:t>
            </a:r>
          </a:p>
        </p:txBody>
      </p:sp>
      <p:sp>
        <p:nvSpPr>
          <p:cNvPr id="5" name="TextBox 4"/>
          <p:cNvSpPr txBox="1"/>
          <p:nvPr/>
        </p:nvSpPr>
        <p:spPr>
          <a:xfrm>
            <a:off x="640080" y="1050000"/>
            <a:ext cx="10972800" cy="2200000"/>
          </a:xfrm>
          <a:prstGeom prst="rect">
            <a:avLst/>
          </a:prstGeom>
          <a:noFill/>
        </p:spPr>
        <p:txBody>
          <a:bodyPr wrap="square">
            <a:spAutoFit/>
          </a:bodyPr>
          <a:lstStyle/>
          <a:p>
            <a:pPr>
              <a:spcAft>
                <a:spcPts val="500"/>
              </a:spcAft>
            </a:pPr>
            <a:r>
              <a:rPr sz="1400" b="0">
                <a:solidFill>
                  <a:srgbClr val="212121"/>
                </a:solidFill>
              </a:rPr>
              <a:t>• Four locales of about 300 m on the flow-scenario arterial, boundaries at the midpoints between anchors.</a:t>
            </a:r>
          </a:p>
          <a:p>
            <a:pPr>
              <a:spcAft>
                <a:spcPts val="500"/>
              </a:spcAft>
            </a:pPr>
            <a:r>
              <a:rPr sz="1400" b="0">
                <a:solidFill>
                  <a:srgbClr val="212121"/>
                </a:solidFill>
              </a:rPr>
              <a:t>• One ego drives 1.2 km at 12 m/s through three handoffs.</a:t>
            </a:r>
          </a:p>
          <a:p>
            <a:pPr>
              <a:spcAft>
                <a:spcPts val="500"/>
              </a:spcAft>
            </a:pPr>
            <a:r>
              <a:rPr sz="1400" b="0">
                <a:solidFill>
                  <a:srgbClr val="212121"/>
                </a:solidFill>
              </a:rPr>
              <a:t>• Oncoming stream of 4 and 8 vehicles per run, half connected, 2 to 4 crossings per minute per boundary.</a:t>
            </a:r>
          </a:p>
          <a:p>
            <a:pPr>
              <a:spcAft>
                <a:spcPts val="500"/>
              </a:spcAft>
            </a:pPr>
            <a:r>
              <a:rPr sz="1400" b="0">
                <a:solidFill>
                  <a:srgbClr val="212121"/>
                </a:solidFill>
              </a:rPr>
              <a:t>• Conflicts at anchors 1 and 3, and between them a queue tail, a stopped vehicle with an overtake, and a merge. A platoon crosses boundary 2 together.</a:t>
            </a:r>
          </a:p>
          <a:p>
            <a:pPr>
              <a:spcAft>
                <a:spcPts val="500"/>
              </a:spcAft>
            </a:pPr>
            <a:r>
              <a:rPr sz="1400" b="0">
                <a:solidFill>
                  <a:srgbClr val="212121"/>
                </a:solidFill>
              </a:rPr>
              <a:t>• Success per run means no ego collision, age at use under the limit at every decision, and 95% of handoffs warm before use.</a:t>
            </a:r>
          </a:p>
        </p:txBody>
      </p:sp>
      <p:sp>
        <p:nvSpPr>
          <p:cNvPr id="6" name="Rectangle 5"/>
          <p:cNvSpPr/>
          <p:nvPr/>
        </p:nvSpPr>
        <p:spPr>
          <a:xfrm>
            <a:off x="600000" y="3400000"/>
            <a:ext cx="2600000" cy="2050000"/>
          </a:xfrm>
          <a:prstGeom prst="rect">
            <a:avLst/>
          </a:prstGeom>
          <a:solidFill>
            <a:srgbClr val="E1E8F5"/>
          </a:solidFill>
          <a:ln w="15875">
            <a:solidFill>
              <a:srgbClr val="1B3A6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0000" y="3420000"/>
            <a:ext cx="1500000" cy="360000"/>
          </a:xfrm>
          <a:prstGeom prst="rect">
            <a:avLst/>
          </a:prstGeom>
          <a:noFill/>
        </p:spPr>
        <p:txBody>
          <a:bodyPr wrap="square">
            <a:spAutoFit/>
          </a:bodyPr>
          <a:lstStyle/>
          <a:p>
            <a:pPr>
              <a:spcAft>
                <a:spcPts val="600"/>
              </a:spcAft>
            </a:pPr>
            <a:r>
              <a:rPr sz="1200" b="1">
                <a:solidFill>
                  <a:srgbClr val="1B3A6B"/>
                </a:solidFill>
              </a:rPr>
              <a:t>Locale A</a:t>
            </a:r>
          </a:p>
        </p:txBody>
      </p:sp>
      <p:sp>
        <p:nvSpPr>
          <p:cNvPr id="8" name="Rectangle 7"/>
          <p:cNvSpPr/>
          <p:nvPr/>
        </p:nvSpPr>
        <p:spPr>
          <a:xfrm>
            <a:off x="1700000" y="3700000"/>
            <a:ext cx="400000" cy="33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9" name="Rectangle 8"/>
          <p:cNvSpPr/>
          <p:nvPr/>
        </p:nvSpPr>
        <p:spPr>
          <a:xfrm>
            <a:off x="1750000" y="4100000"/>
            <a:ext cx="300000" cy="1200000"/>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50000" y="3400000"/>
            <a:ext cx="2600000" cy="2050000"/>
          </a:xfrm>
          <a:prstGeom prst="rect">
            <a:avLst/>
          </a:prstGeom>
          <a:solidFill>
            <a:srgbClr val="FCECD6"/>
          </a:solidFill>
          <a:ln w="15875">
            <a:solidFill>
              <a:srgbClr val="CC781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0000" y="3420000"/>
            <a:ext cx="1500000" cy="360000"/>
          </a:xfrm>
          <a:prstGeom prst="rect">
            <a:avLst/>
          </a:prstGeom>
          <a:noFill/>
        </p:spPr>
        <p:txBody>
          <a:bodyPr wrap="square">
            <a:spAutoFit/>
          </a:bodyPr>
          <a:lstStyle/>
          <a:p>
            <a:pPr>
              <a:spcAft>
                <a:spcPts val="600"/>
              </a:spcAft>
            </a:pPr>
            <a:r>
              <a:rPr sz="1200" b="1">
                <a:solidFill>
                  <a:srgbClr val="CC7814"/>
                </a:solidFill>
              </a:rPr>
              <a:t>Locale B</a:t>
            </a:r>
          </a:p>
        </p:txBody>
      </p:sp>
      <p:sp>
        <p:nvSpPr>
          <p:cNvPr id="12" name="Rectangle 11"/>
          <p:cNvSpPr/>
          <p:nvPr/>
        </p:nvSpPr>
        <p:spPr>
          <a:xfrm>
            <a:off x="4450000" y="3700000"/>
            <a:ext cx="400000" cy="33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13" name="Rectangle 12"/>
          <p:cNvSpPr/>
          <p:nvPr/>
        </p:nvSpPr>
        <p:spPr>
          <a:xfrm>
            <a:off x="4500000" y="4100000"/>
            <a:ext cx="300000" cy="1200000"/>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00000" y="3400000"/>
            <a:ext cx="2600000" cy="2050000"/>
          </a:xfrm>
          <a:prstGeom prst="rect">
            <a:avLst/>
          </a:prstGeom>
          <a:solidFill>
            <a:srgbClr val="E1E8F5"/>
          </a:solidFill>
          <a:ln w="15875">
            <a:solidFill>
              <a:srgbClr val="1B3A6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0000" y="3420000"/>
            <a:ext cx="1500000" cy="360000"/>
          </a:xfrm>
          <a:prstGeom prst="rect">
            <a:avLst/>
          </a:prstGeom>
          <a:noFill/>
        </p:spPr>
        <p:txBody>
          <a:bodyPr wrap="square">
            <a:spAutoFit/>
          </a:bodyPr>
          <a:lstStyle/>
          <a:p>
            <a:pPr>
              <a:spcAft>
                <a:spcPts val="600"/>
              </a:spcAft>
            </a:pPr>
            <a:r>
              <a:rPr sz="1200" b="1">
                <a:solidFill>
                  <a:srgbClr val="1B3A6B"/>
                </a:solidFill>
              </a:rPr>
              <a:t>Locale C</a:t>
            </a:r>
          </a:p>
        </p:txBody>
      </p:sp>
      <p:sp>
        <p:nvSpPr>
          <p:cNvPr id="16" name="Rectangle 15"/>
          <p:cNvSpPr/>
          <p:nvPr/>
        </p:nvSpPr>
        <p:spPr>
          <a:xfrm>
            <a:off x="7200000" y="3700000"/>
            <a:ext cx="400000" cy="33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17" name="Rectangle 16"/>
          <p:cNvSpPr/>
          <p:nvPr/>
        </p:nvSpPr>
        <p:spPr>
          <a:xfrm>
            <a:off x="7250000" y="4100000"/>
            <a:ext cx="300000" cy="1200000"/>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50000" y="3400000"/>
            <a:ext cx="2600000" cy="2050000"/>
          </a:xfrm>
          <a:prstGeom prst="rect">
            <a:avLst/>
          </a:prstGeom>
          <a:solidFill>
            <a:srgbClr val="FCECD6"/>
          </a:solidFill>
          <a:ln w="15875">
            <a:solidFill>
              <a:srgbClr val="CC781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0000" y="3420000"/>
            <a:ext cx="1500000" cy="360000"/>
          </a:xfrm>
          <a:prstGeom prst="rect">
            <a:avLst/>
          </a:prstGeom>
          <a:noFill/>
        </p:spPr>
        <p:txBody>
          <a:bodyPr wrap="square">
            <a:spAutoFit/>
          </a:bodyPr>
          <a:lstStyle/>
          <a:p>
            <a:pPr>
              <a:spcAft>
                <a:spcPts val="600"/>
              </a:spcAft>
            </a:pPr>
            <a:r>
              <a:rPr sz="1200" b="1">
                <a:solidFill>
                  <a:srgbClr val="CC7814"/>
                </a:solidFill>
              </a:rPr>
              <a:t>Locale D</a:t>
            </a:r>
          </a:p>
        </p:txBody>
      </p:sp>
      <p:sp>
        <p:nvSpPr>
          <p:cNvPr id="20" name="Rectangle 19"/>
          <p:cNvSpPr/>
          <p:nvPr/>
        </p:nvSpPr>
        <p:spPr>
          <a:xfrm>
            <a:off x="9950000" y="3700000"/>
            <a:ext cx="400000" cy="330000"/>
          </a:xfrm>
          <a:prstGeom prst="rect">
            <a:avLst/>
          </a:prstGeom>
          <a:solidFill>
            <a:srgbClr val="6E6E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FFFF"/>
                </a:solidFill>
              </a:rPr>
              <a:t>RSU</a:t>
            </a:r>
          </a:p>
        </p:txBody>
      </p:sp>
      <p:sp>
        <p:nvSpPr>
          <p:cNvPr id="21" name="Rectangle 20"/>
          <p:cNvSpPr/>
          <p:nvPr/>
        </p:nvSpPr>
        <p:spPr>
          <a:xfrm>
            <a:off x="10000000" y="4100000"/>
            <a:ext cx="300000" cy="1200000"/>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0000" y="4500000"/>
            <a:ext cx="10800000" cy="340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75000" y="3320000"/>
            <a:ext cx="20000" cy="221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25000" y="3320000"/>
            <a:ext cx="20000" cy="221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775000" y="3320000"/>
            <a:ext cx="20000" cy="221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600000" y="4540000"/>
            <a:ext cx="260000" cy="26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x</a:t>
            </a:r>
          </a:p>
        </p:txBody>
      </p:sp>
      <p:sp>
        <p:nvSpPr>
          <p:cNvPr id="27" name="TextBox 26"/>
          <p:cNvSpPr txBox="1"/>
          <p:nvPr/>
        </p:nvSpPr>
        <p:spPr>
          <a:xfrm>
            <a:off x="1220000" y="4840000"/>
            <a:ext cx="1100000" cy="300000"/>
          </a:xfrm>
          <a:prstGeom prst="rect">
            <a:avLst/>
          </a:prstGeom>
          <a:noFill/>
        </p:spPr>
        <p:txBody>
          <a:bodyPr wrap="square">
            <a:spAutoFit/>
          </a:bodyPr>
          <a:lstStyle/>
          <a:p>
            <a:pPr algn="ctr">
              <a:spcAft>
                <a:spcPts val="600"/>
              </a:spcAft>
            </a:pPr>
            <a:r>
              <a:rPr sz="900" b="0">
                <a:solidFill>
                  <a:srgbClr val="C0392B"/>
                </a:solidFill>
              </a:rPr>
              <a:t>crossing path</a:t>
            </a:r>
          </a:p>
        </p:txBody>
      </p:sp>
      <p:sp>
        <p:nvSpPr>
          <p:cNvPr id="28" name="Oval 27"/>
          <p:cNvSpPr/>
          <p:nvPr/>
        </p:nvSpPr>
        <p:spPr>
          <a:xfrm>
            <a:off x="3450000" y="4540000"/>
            <a:ext cx="260000" cy="26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x</a:t>
            </a:r>
          </a:p>
        </p:txBody>
      </p:sp>
      <p:sp>
        <p:nvSpPr>
          <p:cNvPr id="29" name="TextBox 28"/>
          <p:cNvSpPr txBox="1"/>
          <p:nvPr/>
        </p:nvSpPr>
        <p:spPr>
          <a:xfrm>
            <a:off x="3070000" y="4840000"/>
            <a:ext cx="1100000" cy="300000"/>
          </a:xfrm>
          <a:prstGeom prst="rect">
            <a:avLst/>
          </a:prstGeom>
          <a:noFill/>
        </p:spPr>
        <p:txBody>
          <a:bodyPr wrap="square">
            <a:spAutoFit/>
          </a:bodyPr>
          <a:lstStyle/>
          <a:p>
            <a:pPr algn="ctr">
              <a:spcAft>
                <a:spcPts val="600"/>
              </a:spcAft>
            </a:pPr>
            <a:r>
              <a:rPr sz="900" b="0">
                <a:solidFill>
                  <a:srgbClr val="C0392B"/>
                </a:solidFill>
              </a:rPr>
              <a:t>queue tail</a:t>
            </a:r>
          </a:p>
        </p:txBody>
      </p:sp>
      <p:sp>
        <p:nvSpPr>
          <p:cNvPr id="30" name="Oval 29"/>
          <p:cNvSpPr/>
          <p:nvPr/>
        </p:nvSpPr>
        <p:spPr>
          <a:xfrm>
            <a:off x="6200000" y="4540000"/>
            <a:ext cx="260000" cy="26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x</a:t>
            </a:r>
          </a:p>
        </p:txBody>
      </p:sp>
      <p:sp>
        <p:nvSpPr>
          <p:cNvPr id="31" name="TextBox 30"/>
          <p:cNvSpPr txBox="1"/>
          <p:nvPr/>
        </p:nvSpPr>
        <p:spPr>
          <a:xfrm>
            <a:off x="5820000" y="4840000"/>
            <a:ext cx="1100000" cy="300000"/>
          </a:xfrm>
          <a:prstGeom prst="rect">
            <a:avLst/>
          </a:prstGeom>
          <a:noFill/>
        </p:spPr>
        <p:txBody>
          <a:bodyPr wrap="square">
            <a:spAutoFit/>
          </a:bodyPr>
          <a:lstStyle/>
          <a:p>
            <a:pPr algn="ctr">
              <a:spcAft>
                <a:spcPts val="600"/>
              </a:spcAft>
            </a:pPr>
            <a:r>
              <a:rPr sz="900" b="0">
                <a:solidFill>
                  <a:srgbClr val="C0392B"/>
                </a:solidFill>
              </a:rPr>
              <a:t>overtake</a:t>
            </a:r>
          </a:p>
        </p:txBody>
      </p:sp>
      <p:sp>
        <p:nvSpPr>
          <p:cNvPr id="32" name="Oval 31"/>
          <p:cNvSpPr/>
          <p:nvPr/>
        </p:nvSpPr>
        <p:spPr>
          <a:xfrm>
            <a:off x="7000000" y="4540000"/>
            <a:ext cx="260000" cy="26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x</a:t>
            </a:r>
          </a:p>
        </p:txBody>
      </p:sp>
      <p:sp>
        <p:nvSpPr>
          <p:cNvPr id="33" name="TextBox 32"/>
          <p:cNvSpPr txBox="1"/>
          <p:nvPr/>
        </p:nvSpPr>
        <p:spPr>
          <a:xfrm>
            <a:off x="6620000" y="4840000"/>
            <a:ext cx="1100000" cy="300000"/>
          </a:xfrm>
          <a:prstGeom prst="rect">
            <a:avLst/>
          </a:prstGeom>
          <a:noFill/>
        </p:spPr>
        <p:txBody>
          <a:bodyPr wrap="square">
            <a:spAutoFit/>
          </a:bodyPr>
          <a:lstStyle/>
          <a:p>
            <a:pPr algn="ctr">
              <a:spcAft>
                <a:spcPts val="600"/>
              </a:spcAft>
            </a:pPr>
            <a:r>
              <a:rPr sz="900" b="0">
                <a:solidFill>
                  <a:srgbClr val="C0392B"/>
                </a:solidFill>
              </a:rPr>
              <a:t>crossing path</a:t>
            </a:r>
          </a:p>
        </p:txBody>
      </p:sp>
      <p:sp>
        <p:nvSpPr>
          <p:cNvPr id="34" name="Oval 33"/>
          <p:cNvSpPr/>
          <p:nvPr/>
        </p:nvSpPr>
        <p:spPr>
          <a:xfrm>
            <a:off x="9000000" y="4540000"/>
            <a:ext cx="260000" cy="26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x</a:t>
            </a:r>
          </a:p>
        </p:txBody>
      </p:sp>
      <p:sp>
        <p:nvSpPr>
          <p:cNvPr id="35" name="TextBox 34"/>
          <p:cNvSpPr txBox="1"/>
          <p:nvPr/>
        </p:nvSpPr>
        <p:spPr>
          <a:xfrm>
            <a:off x="8620000" y="4840000"/>
            <a:ext cx="1100000" cy="300000"/>
          </a:xfrm>
          <a:prstGeom prst="rect">
            <a:avLst/>
          </a:prstGeom>
          <a:noFill/>
        </p:spPr>
        <p:txBody>
          <a:bodyPr wrap="square">
            <a:spAutoFit/>
          </a:bodyPr>
          <a:lstStyle/>
          <a:p>
            <a:pPr algn="ctr">
              <a:spcAft>
                <a:spcPts val="600"/>
              </a:spcAft>
            </a:pPr>
            <a:r>
              <a:rPr sz="900" b="0">
                <a:solidFill>
                  <a:srgbClr val="C0392B"/>
                </a:solidFill>
              </a:rPr>
              <a:t>stopped vehicle</a:t>
            </a:r>
          </a:p>
        </p:txBody>
      </p:sp>
      <p:sp>
        <p:nvSpPr>
          <p:cNvPr id="36" name="Oval 35"/>
          <p:cNvSpPr/>
          <p:nvPr/>
        </p:nvSpPr>
        <p:spPr>
          <a:xfrm>
            <a:off x="10400000" y="4540000"/>
            <a:ext cx="260000" cy="260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rPr>
              <a:t>x</a:t>
            </a:r>
          </a:p>
        </p:txBody>
      </p:sp>
      <p:sp>
        <p:nvSpPr>
          <p:cNvPr id="37" name="TextBox 36"/>
          <p:cNvSpPr txBox="1"/>
          <p:nvPr/>
        </p:nvSpPr>
        <p:spPr>
          <a:xfrm>
            <a:off x="10020000" y="4840000"/>
            <a:ext cx="1100000" cy="300000"/>
          </a:xfrm>
          <a:prstGeom prst="rect">
            <a:avLst/>
          </a:prstGeom>
          <a:noFill/>
        </p:spPr>
        <p:txBody>
          <a:bodyPr wrap="square">
            <a:spAutoFit/>
          </a:bodyPr>
          <a:lstStyle/>
          <a:p>
            <a:pPr algn="ctr">
              <a:spcAft>
                <a:spcPts val="600"/>
              </a:spcAft>
            </a:pPr>
            <a:r>
              <a:rPr sz="900" b="0">
                <a:solidFill>
                  <a:srgbClr val="C0392B"/>
                </a:solidFill>
              </a:rPr>
              <a:t>merge</a:t>
            </a:r>
          </a:p>
        </p:txBody>
      </p:sp>
      <p:sp>
        <p:nvSpPr>
          <p:cNvPr id="38" name="Right Arrow 37"/>
          <p:cNvSpPr/>
          <p:nvPr/>
        </p:nvSpPr>
        <p:spPr>
          <a:xfrm>
            <a:off x="800000" y="5160000"/>
            <a:ext cx="10500000" cy="230000"/>
          </a:xfrm>
          <a:prstGeom prst="rightArrow">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ego route, three handoffs, actors crossing independently and several at once</a:t>
            </a:r>
          </a:p>
        </p:txBody>
      </p:sp>
      <p:sp>
        <p:nvSpPr>
          <p:cNvPr id="39" name="TextBox 38"/>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A cooperative-prediction service operating across a sequence of locales  ·  Missing: build (T13), go/no-go on a 3-locale smoke by Sep 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Is prediction usable across repeated locale handoffs?</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RQ4</a:t>
            </a:r>
          </a:p>
        </p:txBody>
      </p:sp>
      <p:sp>
        <p:nvSpPr>
          <p:cNvPr id="4" name="Rounded Rectangle 3"/>
          <p:cNvSpPr/>
          <p:nvPr/>
        </p:nvSpPr>
        <p:spPr>
          <a:xfrm>
            <a:off x="10200000" y="760000"/>
            <a:ext cx="1450000" cy="33000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Needed</a:t>
            </a:r>
          </a:p>
        </p:txBody>
      </p:sp>
      <p:pic>
        <p:nvPicPr>
          <p:cNvPr id="5" name="Picture 4" descr="toy_corridor.png"/>
          <p:cNvPicPr>
            <a:picLocks noChangeAspect="1"/>
          </p:cNvPicPr>
          <p:nvPr/>
        </p:nvPicPr>
        <p:blipFill>
          <a:blip r:embed="rId2"/>
          <a:stretch>
            <a:fillRect/>
          </a:stretch>
        </p:blipFill>
        <p:spPr>
          <a:xfrm>
            <a:off x="500000" y="1150000"/>
            <a:ext cx="7400000" cy="3700000"/>
          </a:xfrm>
          <a:prstGeom prst="rect">
            <a:avLst/>
          </a:prstGeom>
        </p:spPr>
      </p:pic>
      <p:sp>
        <p:nvSpPr>
          <p:cNvPr id="6" name="TextBox 5"/>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7" name="TextBox 6"/>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Do reactive mechanisms spike above the safe-age limit at every boundary, and does Khonsu stay below it through all three?</a:t>
            </a:r>
          </a:p>
        </p:txBody>
      </p:sp>
      <p:sp>
        <p:nvSpPr>
          <p:cNvPr id="8" name="TextBox 7"/>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9" name="TextBox 8"/>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Trace prediction age at the planner along the 1.2 km route for the boundary-trigger baseline and Khonsu, with the per-maneuver limit stepping through the conflict windows. Summarize the whole route per arm (T13).</a:t>
            </a:r>
          </a:p>
        </p:txBody>
      </p:sp>
      <p:sp>
        <p:nvSpPr>
          <p:cNvPr id="10" name="TextBox 9"/>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1" name="TextBox 10"/>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Khonsu shows small bumps at each transition and stays below the limit. The aggregate is the fraction of safety-critical decisions served warm and fresh, with collisions and fallbacks per km as numbers.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Locale size has an upper and a lower bound</a:t>
            </a:r>
          </a:p>
        </p:txBody>
      </p:sp>
      <p:sp>
        <p:nvSpPr>
          <p:cNvPr id="3" name="TextBox 2"/>
          <p:cNvSpPr txBox="1"/>
          <p:nvPr/>
        </p:nvSpPr>
        <p:spPr>
          <a:xfrm>
            <a:off x="10200000" y="292608"/>
            <a:ext cx="1700000" cy="457200"/>
          </a:xfrm>
          <a:prstGeom prst="rect">
            <a:avLst/>
          </a:prstGeom>
          <a:noFill/>
        </p:spPr>
        <p:txBody>
          <a:bodyPr wrap="square">
            <a:spAutoFit/>
          </a:bodyPr>
          <a:lstStyle/>
          <a:p>
            <a:pPr algn="r">
              <a:spcAft>
                <a:spcPts val="600"/>
              </a:spcAft>
            </a:pPr>
            <a:r>
              <a:rPr sz="1300" b="1">
                <a:solidFill>
                  <a:srgbClr val="B3A369"/>
                </a:solidFill>
              </a:rPr>
              <a:t>RQ1</a:t>
            </a:r>
          </a:p>
        </p:txBody>
      </p:sp>
      <p:sp>
        <p:nvSpPr>
          <p:cNvPr id="4" name="Rounded Rectangle 3"/>
          <p:cNvSpPr/>
          <p:nvPr/>
        </p:nvSpPr>
        <p:spPr>
          <a:xfrm>
            <a:off x="10200000" y="760000"/>
            <a:ext cx="1450000" cy="33000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Needed</a:t>
            </a:r>
          </a:p>
        </p:txBody>
      </p:sp>
      <p:pic>
        <p:nvPicPr>
          <p:cNvPr id="5" name="Picture 4" descr="toy_sizing.png"/>
          <p:cNvPicPr>
            <a:picLocks noChangeAspect="1"/>
          </p:cNvPicPr>
          <p:nvPr/>
        </p:nvPicPr>
        <p:blipFill>
          <a:blip r:embed="rId2"/>
          <a:stretch>
            <a:fillRect/>
          </a:stretch>
        </p:blipFill>
        <p:spPr>
          <a:xfrm>
            <a:off x="500000" y="1150000"/>
            <a:ext cx="7400000" cy="3905555"/>
          </a:xfrm>
          <a:prstGeom prst="rect">
            <a:avLst/>
          </a:prstGeom>
        </p:spPr>
      </p:pic>
      <p:sp>
        <p:nvSpPr>
          <p:cNvPr id="6" name="TextBox 5"/>
          <p:cNvSpPr txBox="1"/>
          <p:nvPr/>
        </p:nvSpPr>
        <p:spPr>
          <a:xfrm>
            <a:off x="8100000" y="1200000"/>
            <a:ext cx="3600000" cy="320000"/>
          </a:xfrm>
          <a:prstGeom prst="rect">
            <a:avLst/>
          </a:prstGeom>
          <a:noFill/>
        </p:spPr>
        <p:txBody>
          <a:bodyPr wrap="square">
            <a:spAutoFit/>
          </a:bodyPr>
          <a:lstStyle/>
          <a:p>
            <a:pPr>
              <a:spcAft>
                <a:spcPts val="600"/>
              </a:spcAft>
            </a:pPr>
            <a:r>
              <a:rPr sz="1100" b="1">
                <a:solidFill>
                  <a:srgbClr val="B3A369"/>
                </a:solidFill>
              </a:rPr>
              <a:t>Question</a:t>
            </a:r>
          </a:p>
        </p:txBody>
      </p:sp>
      <p:sp>
        <p:nvSpPr>
          <p:cNvPr id="7" name="TextBox 6"/>
          <p:cNvSpPr txBox="1"/>
          <p:nvPr/>
        </p:nvSpPr>
        <p:spPr>
          <a:xfrm>
            <a:off x="8100000" y="1520000"/>
            <a:ext cx="3600000" cy="1250000"/>
          </a:xfrm>
          <a:prstGeom prst="rect">
            <a:avLst/>
          </a:prstGeom>
          <a:noFill/>
        </p:spPr>
        <p:txBody>
          <a:bodyPr wrap="square">
            <a:spAutoFit/>
          </a:bodyPr>
          <a:lstStyle/>
          <a:p>
            <a:pPr>
              <a:spcAft>
                <a:spcPts val="400"/>
              </a:spcAft>
            </a:pPr>
            <a:r>
              <a:rPr sz="1200" b="0">
                <a:solidFill>
                  <a:srgbClr val="212121"/>
                </a:solidFill>
              </a:rPr>
              <a:t>Where does the metropolitan story close? What locale sizes are feasible at all?</a:t>
            </a:r>
          </a:p>
        </p:txBody>
      </p:sp>
      <p:sp>
        <p:nvSpPr>
          <p:cNvPr id="8" name="TextBox 7"/>
          <p:cNvSpPr txBox="1"/>
          <p:nvPr/>
        </p:nvSpPr>
        <p:spPr>
          <a:xfrm>
            <a:off x="8100000" y="2800000"/>
            <a:ext cx="3600000" cy="320000"/>
          </a:xfrm>
          <a:prstGeom prst="rect">
            <a:avLst/>
          </a:prstGeom>
          <a:noFill/>
        </p:spPr>
        <p:txBody>
          <a:bodyPr wrap="square">
            <a:spAutoFit/>
          </a:bodyPr>
          <a:lstStyle/>
          <a:p>
            <a:pPr>
              <a:spcAft>
                <a:spcPts val="600"/>
              </a:spcAft>
            </a:pPr>
            <a:r>
              <a:rPr sz="1100" b="1">
                <a:solidFill>
                  <a:srgbClr val="B3A369"/>
                </a:solidFill>
              </a:rPr>
              <a:t>Experiment</a:t>
            </a:r>
          </a:p>
        </p:txBody>
      </p:sp>
      <p:sp>
        <p:nvSpPr>
          <p:cNvPr id="9" name="TextBox 8"/>
          <p:cNvSpPr txBox="1"/>
          <p:nvPr/>
        </p:nvSpPr>
        <p:spPr>
          <a:xfrm>
            <a:off x="8100000" y="3120000"/>
            <a:ext cx="3600000" cy="1250000"/>
          </a:xfrm>
          <a:prstGeom prst="rect">
            <a:avLst/>
          </a:prstGeom>
          <a:noFill/>
        </p:spPr>
        <p:txBody>
          <a:bodyPr wrap="square">
            <a:spAutoFit/>
          </a:bodyPr>
          <a:lstStyle/>
          <a:p>
            <a:pPr>
              <a:spcAft>
                <a:spcPts val="400"/>
              </a:spcAft>
            </a:pPr>
            <a:r>
              <a:rPr sz="1200" b="0">
                <a:solidFill>
                  <a:srgbClr val="212121"/>
                </a:solidFill>
              </a:rPr>
              <a:t>Sweep locale side length. Fusion compute utilization comes from the canvas measurement (in hand). Handoff load comes from crossings per boundary at the corridor traffic times the measured per-handoff cost (T22, analysis after T8 and T13).</a:t>
            </a:r>
          </a:p>
        </p:txBody>
      </p:sp>
      <p:sp>
        <p:nvSpPr>
          <p:cNvPr id="10" name="TextBox 9"/>
          <p:cNvSpPr txBox="1"/>
          <p:nvPr/>
        </p:nvSpPr>
        <p:spPr>
          <a:xfrm>
            <a:off x="8100000" y="4400000"/>
            <a:ext cx="3600000" cy="320000"/>
          </a:xfrm>
          <a:prstGeom prst="rect">
            <a:avLst/>
          </a:prstGeom>
          <a:noFill/>
        </p:spPr>
        <p:txBody>
          <a:bodyPr wrap="square">
            <a:spAutoFit/>
          </a:bodyPr>
          <a:lstStyle/>
          <a:p>
            <a:pPr>
              <a:spcAft>
                <a:spcPts val="600"/>
              </a:spcAft>
            </a:pPr>
            <a:r>
              <a:rPr sz="1100" b="1">
                <a:solidFill>
                  <a:srgbClr val="B3A369"/>
                </a:solidFill>
              </a:rPr>
              <a:t>Result we need</a:t>
            </a:r>
          </a:p>
        </p:txBody>
      </p:sp>
      <p:sp>
        <p:nvSpPr>
          <p:cNvPr id="11" name="TextBox 10"/>
          <p:cNvSpPr txBox="1"/>
          <p:nvPr/>
        </p:nvSpPr>
        <p:spPr>
          <a:xfrm>
            <a:off x="8100000" y="4720000"/>
            <a:ext cx="3600000" cy="1250000"/>
          </a:xfrm>
          <a:prstGeom prst="rect">
            <a:avLst/>
          </a:prstGeom>
          <a:noFill/>
        </p:spPr>
        <p:txBody>
          <a:bodyPr wrap="square">
            <a:spAutoFit/>
          </a:bodyPr>
          <a:lstStyle/>
          <a:p>
            <a:pPr>
              <a:spcAft>
                <a:spcPts val="400"/>
              </a:spcAft>
            </a:pPr>
            <a:r>
              <a:rPr sz="1200" b="0">
                <a:solidFill>
                  <a:srgbClr val="212121"/>
                </a:solidFill>
              </a:rPr>
              <a:t>An upper bound from per-locale compute, a lower bound from cross-locale transition load, and the feasible interval between them. The paper follows with the size by boundary-position surface.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Done, running, missing</a:t>
            </a:r>
          </a:p>
        </p:txBody>
      </p:sp>
      <p:graphicFrame>
        <p:nvGraphicFramePr>
          <p:cNvPr id="3" name="Table 2"/>
          <p:cNvGraphicFramePr>
            <a:graphicFrameLocks noGrp="1"/>
          </p:cNvGraphicFramePr>
          <p:nvPr/>
        </p:nvGraphicFramePr>
        <p:xfrm>
          <a:off x="548640" y="1150000"/>
          <a:ext cx="11094720" cy="3600000"/>
        </p:xfrm>
        <a:graphic>
          <a:graphicData uri="http://schemas.openxmlformats.org/drawingml/2006/table">
            <a:tbl>
              <a:tblPr firstRow="1" bandRow="1">
                <a:tableStyleId>{5C22544A-7EE6-4342-B048-85BDC9FD1C3A}</a:tableStyleId>
              </a:tblPr>
              <a:tblGrid>
                <a:gridCol w="1800000"/>
                <a:gridCol w="2900000"/>
                <a:gridCol w="2300000"/>
                <a:gridCol w="2900000"/>
                <a:gridCol w="1194720"/>
              </a:tblGrid>
              <a:tr h="720000">
                <a:tc>
                  <a:txBody>
                    <a:bodyPr/>
                    <a:lstStyle/>
                    <a:p>
                      <a:r>
                        <a:rPr sz="1200" b="1"/>
                        <a:t>Question</a:t>
                      </a:r>
                    </a:p>
                  </a:txBody>
                  <a:tcPr/>
                </a:tc>
                <a:tc>
                  <a:txBody>
                    <a:bodyPr/>
                    <a:lstStyle/>
                    <a:p>
                      <a:r>
                        <a:rPr sz="1200" b="1"/>
                        <a:t>Evidence in hand</a:t>
                      </a:r>
                    </a:p>
                  </a:txBody>
                  <a:tcPr/>
                </a:tc>
                <a:tc>
                  <a:txBody>
                    <a:bodyPr/>
                    <a:lstStyle/>
                    <a:p>
                      <a:r>
                        <a:rPr sz="1200" b="1"/>
                        <a:t>Running</a:t>
                      </a:r>
                    </a:p>
                  </a:txBody>
                  <a:tcPr/>
                </a:tc>
                <a:tc>
                  <a:txBody>
                    <a:bodyPr/>
                    <a:lstStyle/>
                    <a:p>
                      <a:r>
                        <a:rPr sz="1200" b="1"/>
                        <a:t>Missing</a:t>
                      </a:r>
                    </a:p>
                  </a:txBody>
                  <a:tcPr/>
                </a:tc>
                <a:tc>
                  <a:txBody>
                    <a:bodyPr/>
                    <a:lstStyle/>
                    <a:p>
                      <a:r>
                        <a:rPr sz="1200" b="1"/>
                        <a:t>Status</a:t>
                      </a:r>
                    </a:p>
                  </a:txBody>
                  <a:tcPr/>
                </a:tc>
              </a:tr>
              <a:tr h="720000">
                <a:tc>
                  <a:txBody>
                    <a:bodyPr/>
                    <a:lstStyle/>
                    <a:p>
                      <a:r>
                        <a:rPr sz="1200" b="0"/>
                        <a:t>RQ1 scale-out</a:t>
                      </a:r>
                    </a:p>
                  </a:txBody>
                  <a:tcPr/>
                </a:tc>
                <a:tc>
                  <a:txBody>
                    <a:bodyPr/>
                    <a:lstStyle/>
                    <a:p>
                      <a:r>
                        <a:rPr sz="1200" b="0"/>
                        <a:t>canvas sweep, CARLA partition</a:t>
                      </a:r>
                    </a:p>
                  </a:txBody>
                  <a:tcPr/>
                </a:tc>
                <a:tc>
                  <a:txBody>
                    <a:bodyPr/>
                    <a:lstStyle/>
                    <a:p>
                      <a:r>
                        <a:rPr sz="1200" b="0"/>
                        <a:t>sizing study</a:t>
                      </a:r>
                    </a:p>
                  </a:txBody>
                  <a:tcPr/>
                </a:tc>
                <a:tc>
                  <a:txBody>
                    <a:bodyPr/>
                    <a:lstStyle/>
                    <a:p>
                      <a:r>
                        <a:rPr sz="1200" b="0"/>
                        <a:t>density-trace sizing</a:t>
                      </a:r>
                    </a:p>
                  </a:txBody>
                  <a:tcPr/>
                </a:tc>
                <a:tc>
                  <a:txBody>
                    <a:bodyPr/>
                    <a:lstStyle/>
                    <a:p>
                      <a:r>
                        <a:rPr sz="1200" b="1">
                          <a:solidFill>
                            <a:srgbClr val="2E7D32"/>
                          </a:solidFill>
                        </a:rPr>
                        <a:t>Done</a:t>
                      </a:r>
                    </a:p>
                  </a:txBody>
                  <a:tcPr/>
                </a:tc>
              </a:tr>
              <a:tr h="720000">
                <a:tc>
                  <a:txBody>
                    <a:bodyPr/>
                    <a:lstStyle/>
                    <a:p>
                      <a:r>
                        <a:rPr sz="1200" b="0"/>
                        <a:t>RQ2 state continuity</a:t>
                      </a:r>
                    </a:p>
                  </a:txBody>
                  <a:tcPr/>
                </a:tc>
                <a:tc>
                  <a:txBody>
                    <a:bodyPr/>
                    <a:lstStyle/>
                    <a:p>
                      <a:r>
                        <a:rPr sz="1200" b="0"/>
                        <a:t>flow 1g: history arms 9/10 and 8/10 vs snapshot arms 0 to 1/10; microbench centimetres vs 0.2 to 0.3 m</a:t>
                      </a:r>
                    </a:p>
                  </a:txBody>
                  <a:tcPr/>
                </a:tc>
                <a:tc>
                  <a:txBody>
                    <a:bodyPr/>
                    <a:lstStyle/>
                    <a:p>
                      <a:r>
                        <a:rPr sz="1200" b="0"/>
                        <a:t>FDE at 5 s per arm (1i logs)</a:t>
                      </a:r>
                    </a:p>
                  </a:txBody>
                  <a:tcPr/>
                </a:tc>
                <a:tc>
                  <a:txBody>
                    <a:bodyPr/>
                    <a:lstStyle/>
                    <a:p>
                      <a:r>
                        <a:rPr sz="1200" b="0"/>
                        <a:t>maneuvering case (planner gate fix)</a:t>
                      </a:r>
                    </a:p>
                  </a:txBody>
                  <a:tcPr/>
                </a:tc>
                <a:tc>
                  <a:txBody>
                    <a:bodyPr/>
                    <a:lstStyle/>
                    <a:p>
                      <a:r>
                        <a:rPr sz="1200" b="1">
                          <a:solidFill>
                            <a:srgbClr val="2E7D32"/>
                          </a:solidFill>
                        </a:rPr>
                        <a:t>Done</a:t>
                      </a:r>
                    </a:p>
                  </a:txBody>
                  <a:tcPr/>
                </a:tc>
              </a:tr>
              <a:tr h="720000">
                <a:tc>
                  <a:txBody>
                    <a:bodyPr/>
                    <a:lstStyle/>
                    <a:p>
                      <a:r>
                        <a:rPr sz="1200" b="0"/>
                        <a:t>RQ3 safe handoff</a:t>
                      </a:r>
                    </a:p>
                  </a:txBody>
                  <a:tcPr/>
                </a:tc>
                <a:tc>
                  <a:txBody>
                    <a:bodyPr/>
                    <a:lstStyle/>
                    <a:p>
                      <a:r>
                        <a:rPr sz="1200" b="0"/>
                        <a:t>1g trigger ladder (leads 0.9 to 4.0 s; 4 s collapse explained and fixed), blind-overtake freshness limit 1.0 s, 8-scenario ownership faults</a:t>
                      </a:r>
                    </a:p>
                  </a:txBody>
                  <a:tcPr/>
                </a:tc>
                <a:tc>
                  <a:txBody>
                    <a:bodyPr/>
                    <a:lstStyle/>
                    <a:p>
                      <a:r>
                        <a:rPr sz="1200" b="0"/>
                        <a:t>headline and trigger at 20 seeds (1i), live fault arms, netem</a:t>
                      </a:r>
                    </a:p>
                  </a:txBody>
                  <a:tcPr/>
                </a:tc>
                <a:tc>
                  <a:txBody>
                    <a:bodyPr/>
                    <a:lstStyle/>
                    <a:p>
                      <a:r>
                        <a:rPr sz="1200" b="0"/>
                        <a:t>acceleration freshness, overlap sweep (T14)</a:t>
                      </a:r>
                    </a:p>
                  </a:txBody>
                  <a:tcPr/>
                </a:tc>
                <a:tc>
                  <a:txBody>
                    <a:bodyPr/>
                    <a:lstStyle/>
                    <a:p>
                      <a:r>
                        <a:rPr sz="1200" b="1">
                          <a:solidFill>
                            <a:srgbClr val="1565C0"/>
                          </a:solidFill>
                        </a:rPr>
                        <a:t>Running</a:t>
                      </a:r>
                    </a:p>
                  </a:txBody>
                  <a:tcPr/>
                </a:tc>
              </a:tr>
              <a:tr h="720000">
                <a:tc>
                  <a:txBody>
                    <a:bodyPr/>
                    <a:lstStyle/>
                    <a:p>
                      <a:r>
                        <a:rPr sz="1200" b="0"/>
                        <a:t>RQ4 multi-locale</a:t>
                      </a:r>
                    </a:p>
                  </a:txBody>
                  <a:tcPr/>
                </a:tc>
                <a:tc>
                  <a:txBody>
                    <a:bodyPr/>
                    <a:lstStyle/>
                    <a:p>
                      <a:r>
                        <a:rPr sz="1200" b="0"/>
                        <a:t>burst: history ahead 5/5 vs EdgeWarp 0/5 vs cold 0/5; density 2/4/8: history 5,2,4 vs snapshot 0,1,0 vs cold 0,0,1 of 5</a:t>
                      </a:r>
                    </a:p>
                  </a:txBody>
                  <a:tcPr/>
                </a:tc>
                <a:tc>
                  <a:txBody>
                    <a:bodyPr/>
                    <a:lstStyle/>
                    <a:p>
                      <a:r>
                        <a:rPr sz="1200" b="0"/>
                        <a:t>corridor build (T13)</a:t>
                      </a:r>
                    </a:p>
                  </a:txBody>
                  <a:tcPr/>
                </a:tc>
                <a:tc>
                  <a:txBody>
                    <a:bodyPr/>
                    <a:lstStyle/>
                    <a:p>
                      <a:r>
                        <a:rPr sz="1200" b="0"/>
                        <a:t>crossing-load sweep (T19b), corridor route-level metrics (T13), sizing analysis (T22), association for unconnected actors (T10)</a:t>
                      </a:r>
                    </a:p>
                  </a:txBody>
                  <a:tcPr/>
                </a:tc>
                <a:tc>
                  <a:txBody>
                    <a:bodyPr/>
                    <a:lstStyle/>
                    <a:p>
                      <a:r>
                        <a:rPr sz="1200" b="1">
                          <a:solidFill>
                            <a:srgbClr val="1565C0"/>
                          </a:solidFill>
                        </a:rPr>
                        <a:t>Running</a:t>
                      </a:r>
                    </a:p>
                  </a:txBody>
                  <a:tcPr/>
                </a:tc>
              </a:tr>
            </a:tbl>
          </a:graphicData>
        </a:graphic>
      </p:graphicFrame>
      <p:sp>
        <p:nvSpPr>
          <p:cNvPr id="4" name="TextBox 3"/>
          <p:cNvSpPr txBox="1"/>
          <p:nvPr/>
        </p:nvSpPr>
        <p:spPr>
          <a:xfrm>
            <a:off x="640080" y="5100000"/>
            <a:ext cx="10972800" cy="900000"/>
          </a:xfrm>
          <a:prstGeom prst="rect">
            <a:avLst/>
          </a:prstGeom>
          <a:noFill/>
        </p:spPr>
        <p:txBody>
          <a:bodyPr wrap="square">
            <a:spAutoFit/>
          </a:bodyPr>
          <a:lstStyle/>
          <a:p>
            <a:pPr>
              <a:spcAft>
                <a:spcPts val="400"/>
              </a:spcAft>
            </a:pPr>
            <a:r>
              <a:rPr sz="1200" b="0">
                <a:solidFill>
                  <a:srgbClr val="212121"/>
                </a:solidFill>
              </a:rPr>
              <a:t>Provenance. The first two sweeps ran an unvalidated scenario geometry (found Sep 3). The fix is a runner default. The canonical warm arm reproduced 4/4 under the documented settings, and v3 is the re-baseline.</a:t>
            </a:r>
          </a:p>
          <a:p>
            <a:pPr>
              <a:spcAft>
                <a:spcPts val="400"/>
              </a:spcAft>
            </a:pPr>
            <a:r>
              <a:rPr sz="1200" b="0">
                <a:solidFill>
                  <a:srgbClr val="212121"/>
                </a:solidFill>
              </a:rPr>
              <a:t>Timeline. NSDI'27 abstracts Sep 10, papers Sep 17.</a:t>
            </a:r>
          </a:p>
        </p:txBody>
      </p:sp>
      <p:sp>
        <p:nvSpPr>
          <p:cNvPr id="5" name="TextBox 4"/>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Done = validated evidence in hand  ·  Provisional = measured on an unvalidated geometry  ·  Running = in the queue  ·  Needed = staged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9600000" cy="777240"/>
          </a:xfrm>
          <a:prstGeom prst="rect">
            <a:avLst/>
          </a:prstGeom>
          <a:noFill/>
        </p:spPr>
        <p:txBody>
          <a:bodyPr wrap="square">
            <a:spAutoFit/>
          </a:bodyPr>
          <a:lstStyle/>
          <a:p>
            <a:pPr>
              <a:spcAft>
                <a:spcPts val="600"/>
              </a:spcAft>
            </a:pPr>
            <a:r>
              <a:rPr sz="2800" b="1">
                <a:solidFill>
                  <a:srgbClr val="1B3A6B"/>
                </a:solidFill>
              </a:rPr>
              <a:t>Minimum remaining evidence for NSDI</a:t>
            </a:r>
          </a:p>
        </p:txBody>
      </p:sp>
      <p:sp>
        <p:nvSpPr>
          <p:cNvPr id="3" name="Rounded Rectangle 2"/>
          <p:cNvSpPr/>
          <p:nvPr/>
        </p:nvSpPr>
        <p:spPr>
          <a:xfrm>
            <a:off x="10200000" y="760000"/>
            <a:ext cx="1450000" cy="33000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Needed</a:t>
            </a:r>
          </a:p>
        </p:txBody>
      </p:sp>
      <p:sp>
        <p:nvSpPr>
          <p:cNvPr id="4" name="TextBox 3"/>
          <p:cNvSpPr txBox="1"/>
          <p:nvPr/>
        </p:nvSpPr>
        <p:spPr>
          <a:xfrm>
            <a:off x="640080" y="1150000"/>
            <a:ext cx="10972800" cy="3600000"/>
          </a:xfrm>
          <a:prstGeom prst="rect">
            <a:avLst/>
          </a:prstGeom>
          <a:noFill/>
        </p:spPr>
        <p:txBody>
          <a:bodyPr wrap="square">
            <a:spAutoFit/>
          </a:bodyPr>
          <a:lstStyle/>
          <a:p>
            <a:pPr>
              <a:spcAft>
                <a:spcPts val="800"/>
              </a:spcAft>
            </a:pPr>
            <a:r>
              <a:rPr sz="1600" b="0">
                <a:solidFill>
                  <a:srgbClr val="212121"/>
                </a:solidFill>
              </a:rPr>
              <a:t>• Safe-age limit re-measured per handoff scenario (T12).</a:t>
            </a:r>
          </a:p>
          <a:p>
            <a:pPr>
              <a:spcAft>
                <a:spcPts val="800"/>
              </a:spcAft>
            </a:pPr>
            <a:r>
              <a:rPr sz="1600" b="0">
                <a:solidFill>
                  <a:srgbClr val="212121"/>
                </a:solidFill>
              </a:rPr>
              <a:t>• Trigger table on the corrected scenario: predictor-mode trigger, fixed leads, bands (T15, lookahead redo). The v3 baselines have landed.</a:t>
            </a:r>
          </a:p>
          <a:p>
            <a:pPr>
              <a:spcAft>
                <a:spcPts val="800"/>
              </a:spcAft>
            </a:pPr>
            <a:r>
              <a:rPr sz="1600" b="0">
                <a:solidFill>
                  <a:srgbClr val="212121"/>
                </a:solidFill>
              </a:rPr>
              <a:t>• Overlap in its three meanings over overlap width, with the dual-authority arm (T14).</a:t>
            </a:r>
          </a:p>
          <a:p>
            <a:pPr>
              <a:spcAft>
                <a:spcPts val="800"/>
              </a:spcAft>
            </a:pPr>
            <a:r>
              <a:rPr sz="1600" b="0">
                <a:solidFill>
                  <a:srgbClr val="212121"/>
                </a:solidFill>
              </a:rPr>
              <a:t>• Real two-process transport with emulated backhaul delay and loss (T8).</a:t>
            </a:r>
          </a:p>
          <a:p>
            <a:pPr>
              <a:spcAft>
                <a:spcPts val="800"/>
              </a:spcAft>
            </a:pPr>
            <a:r>
              <a:rPr sz="1600" b="0">
                <a:solidFill>
                  <a:srgbClr val="212121"/>
                </a:solidFill>
              </a:rPr>
              <a:t>• The corridor scenario with route-level metrics (T13, go/no-go Sep 9).</a:t>
            </a:r>
          </a:p>
          <a:p>
            <a:pPr>
              <a:spcAft>
                <a:spcPts val="800"/>
              </a:spcAft>
            </a:pPr>
            <a:r>
              <a:rPr sz="1600" b="0">
                <a:solidFill>
                  <a:srgbClr val="212121"/>
                </a:solidFill>
              </a:rPr>
              <a:t>• Association for unconnected actors measured under pose error and distractors, or scoped as a limitation (T10).</a:t>
            </a:r>
          </a:p>
        </p:txBody>
      </p:sp>
      <p:sp>
        <p:nvSpPr>
          <p:cNvPr id="5" name="TextBox 4"/>
          <p:cNvSpPr txBox="1"/>
          <p:nvPr/>
        </p:nvSpPr>
        <p:spPr>
          <a:xfrm>
            <a:off x="640080" y="6263640"/>
            <a:ext cx="10972800" cy="457200"/>
          </a:xfrm>
          <a:prstGeom prst="rect">
            <a:avLst/>
          </a:prstGeom>
          <a:noFill/>
        </p:spPr>
        <p:txBody>
          <a:bodyPr wrap="square">
            <a:spAutoFit/>
          </a:bodyPr>
          <a:lstStyle/>
          <a:p>
            <a:pPr>
              <a:spcAft>
                <a:spcPts val="600"/>
              </a:spcAft>
            </a:pPr>
            <a:r>
              <a:rPr sz="1200" b="0">
                <a:solidFill>
                  <a:srgbClr val="B3A369"/>
                </a:solidFill>
              </a:rPr>
              <a:t>The missing evidence is not whether the idea is plausible. It is whether it holds across repeated handoffs, overlap alternatives, real transport, and unconnected-actor association.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